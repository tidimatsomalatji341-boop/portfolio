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Aileron" panose="020B0604020202020204" charset="0"/>
      <p:regular r:id="rId10"/>
    </p:embeddedFont>
    <p:embeddedFont>
      <p:font typeface="Aileron Bold Italics" panose="020B0604020202020204" charset="0"/>
      <p:regular r:id="rId11"/>
    </p:embeddedFont>
    <p:embeddedFont>
      <p:font typeface="Arial Bold Italics" panose="020B0604020202020204" charset="0"/>
      <p:regular r:id="rId12"/>
    </p:embeddedFont>
    <p:embeddedFont>
      <p:font typeface="Bricolage Grotesque Bold" panose="020B0604020202020204" charset="0"/>
      <p:regular r:id="rId13"/>
    </p:embeddedFont>
    <p:embeddedFont>
      <p:font typeface="Canva Sans" panose="020B0604020202020204" charset="0"/>
      <p:regular r:id="rId14"/>
    </p:embeddedFont>
    <p:embeddedFont>
      <p:font typeface="Glacial Indifference Bold" panose="020B0604020202020204" charset="0"/>
      <p:regular r:id="rId15"/>
    </p:embeddedFont>
    <p:embeddedFont>
      <p:font typeface="ITC Franklin Gothic LT" panose="020B0604020202020204" charset="0"/>
      <p:regular r:id="rId16"/>
    </p:embeddedFont>
    <p:embeddedFont>
      <p:font typeface="ITC Franklin Gothic LT Semi-Bold" panose="020B0604020202020204" charset="0"/>
      <p:regular r:id="rId17"/>
    </p:embeddedFont>
    <p:embeddedFont>
      <p:font typeface="Poppins Bold Italics" panose="020B0604020202020204" charset="0"/>
      <p:regular r:id="rId18"/>
    </p:embeddedFont>
    <p:embeddedFont>
      <p:font typeface="TT Phobos"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90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tableStyles" Target="tableStyle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3.svg"/><Relationship Id="rId3" Type="http://schemas.openxmlformats.org/officeDocument/2006/relationships/image" Target="../media/image9.svg"/><Relationship Id="rId7" Type="http://schemas.openxmlformats.org/officeDocument/2006/relationships/image" Target="../media/image3.svg"/><Relationship Id="rId12"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2.png"/><Relationship Id="rId11" Type="http://schemas.openxmlformats.org/officeDocument/2006/relationships/image" Target="../media/image7.png"/><Relationship Id="rId5" Type="http://schemas.openxmlformats.org/officeDocument/2006/relationships/image" Target="../media/image11.svg"/><Relationship Id="rId10" Type="http://schemas.openxmlformats.org/officeDocument/2006/relationships/image" Target="../media/image6.png"/><Relationship Id="rId4" Type="http://schemas.openxmlformats.org/officeDocument/2006/relationships/image" Target="../media/image10.png"/><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90100" y="3213174"/>
            <a:ext cx="14950983" cy="522"/>
          </a:xfrm>
          <a:prstGeom prst="line">
            <a:avLst/>
          </a:prstGeom>
          <a:ln w="9525" cap="rnd">
            <a:solidFill>
              <a:srgbClr val="000000"/>
            </a:solidFill>
            <a:prstDash val="solid"/>
            <a:headEnd type="none" w="sm" len="sm"/>
            <a:tailEnd type="none" w="sm" len="sm"/>
          </a:ln>
        </p:spPr>
        <p:txBody>
          <a:bodyPr/>
          <a:lstStyle/>
          <a:p>
            <a:endParaRPr lang="en-US"/>
          </a:p>
        </p:txBody>
      </p:sp>
      <p:grpSp>
        <p:nvGrpSpPr>
          <p:cNvPr id="3" name="Group 3"/>
          <p:cNvGrpSpPr/>
          <p:nvPr/>
        </p:nvGrpSpPr>
        <p:grpSpPr>
          <a:xfrm>
            <a:off x="4858" y="9601200"/>
            <a:ext cx="18282780" cy="685257"/>
            <a:chOff x="0" y="0"/>
            <a:chExt cx="24377040" cy="913676"/>
          </a:xfrm>
        </p:grpSpPr>
        <p:sp>
          <p:nvSpPr>
            <p:cNvPr id="4" name="Freeform 4"/>
            <p:cNvSpPr/>
            <p:nvPr/>
          </p:nvSpPr>
          <p:spPr>
            <a:xfrm>
              <a:off x="0" y="0"/>
              <a:ext cx="24377014" cy="913638"/>
            </a:xfrm>
            <a:custGeom>
              <a:avLst/>
              <a:gdLst/>
              <a:ahLst/>
              <a:cxnLst/>
              <a:rect l="l" t="t" r="r" b="b"/>
              <a:pathLst>
                <a:path w="24377014" h="913638">
                  <a:moveTo>
                    <a:pt x="0" y="0"/>
                  </a:moveTo>
                  <a:lnTo>
                    <a:pt x="24377014" y="0"/>
                  </a:lnTo>
                  <a:lnTo>
                    <a:pt x="24377014" y="913638"/>
                  </a:lnTo>
                  <a:lnTo>
                    <a:pt x="0" y="913638"/>
                  </a:lnTo>
                  <a:close/>
                </a:path>
              </a:pathLst>
            </a:custGeom>
            <a:solidFill>
              <a:srgbClr val="262626"/>
            </a:solidFill>
          </p:spPr>
          <p:txBody>
            <a:bodyPr/>
            <a:lstStyle/>
            <a:p>
              <a:endParaRPr lang="en-US"/>
            </a:p>
          </p:txBody>
        </p:sp>
      </p:grpSp>
      <p:sp>
        <p:nvSpPr>
          <p:cNvPr id="5" name="AutoShape 5"/>
          <p:cNvSpPr/>
          <p:nvPr/>
        </p:nvSpPr>
        <p:spPr>
          <a:xfrm>
            <a:off x="1811160" y="7079040"/>
            <a:ext cx="14813823" cy="517"/>
          </a:xfrm>
          <a:prstGeom prst="line">
            <a:avLst/>
          </a:prstGeom>
          <a:ln w="9525" cap="rnd">
            <a:solidFill>
              <a:srgbClr val="000000"/>
            </a:solidFill>
            <a:prstDash val="solid"/>
            <a:headEnd type="none" w="sm" len="sm"/>
            <a:tailEnd type="none" w="sm" len="sm"/>
          </a:ln>
        </p:spPr>
        <p:txBody>
          <a:bodyPr/>
          <a:lstStyle/>
          <a:p>
            <a:endParaRPr lang="en-US"/>
          </a:p>
        </p:txBody>
      </p:sp>
      <p:grpSp>
        <p:nvGrpSpPr>
          <p:cNvPr id="6" name="Group 6"/>
          <p:cNvGrpSpPr/>
          <p:nvPr/>
        </p:nvGrpSpPr>
        <p:grpSpPr>
          <a:xfrm>
            <a:off x="-2678432" y="-370713"/>
            <a:ext cx="18287638" cy="2310384"/>
            <a:chOff x="0" y="0"/>
            <a:chExt cx="24383517" cy="3080512"/>
          </a:xfrm>
        </p:grpSpPr>
        <p:sp>
          <p:nvSpPr>
            <p:cNvPr id="7" name="Freeform 7"/>
            <p:cNvSpPr/>
            <p:nvPr/>
          </p:nvSpPr>
          <p:spPr>
            <a:xfrm>
              <a:off x="0" y="0"/>
              <a:ext cx="24383519" cy="3080513"/>
            </a:xfrm>
            <a:custGeom>
              <a:avLst/>
              <a:gdLst/>
              <a:ahLst/>
              <a:cxnLst/>
              <a:rect l="l" t="t" r="r" b="b"/>
              <a:pathLst>
                <a:path w="24383519" h="3080513">
                  <a:moveTo>
                    <a:pt x="0" y="0"/>
                  </a:moveTo>
                  <a:lnTo>
                    <a:pt x="24383519" y="0"/>
                  </a:lnTo>
                  <a:lnTo>
                    <a:pt x="24383519" y="3080513"/>
                  </a:lnTo>
                  <a:lnTo>
                    <a:pt x="0" y="3080513"/>
                  </a:lnTo>
                  <a:close/>
                </a:path>
              </a:pathLst>
            </a:custGeom>
            <a:blipFill>
              <a:blip r:embed="rId2">
                <a:alphaModFix amt="0"/>
              </a:blip>
              <a:stretch>
                <a:fillRect t="-112184" b="-96279"/>
              </a:stretch>
            </a:blipFill>
          </p:spPr>
          <p:txBody>
            <a:bodyPr/>
            <a:lstStyle/>
            <a:p>
              <a:endParaRPr lang="en-US"/>
            </a:p>
          </p:txBody>
        </p:sp>
        <p:sp>
          <p:nvSpPr>
            <p:cNvPr id="8" name="TextBox 8"/>
            <p:cNvSpPr txBox="1"/>
            <p:nvPr/>
          </p:nvSpPr>
          <p:spPr>
            <a:xfrm>
              <a:off x="0" y="133350"/>
              <a:ext cx="24383517" cy="2947162"/>
            </a:xfrm>
            <a:prstGeom prst="rect">
              <a:avLst/>
            </a:prstGeom>
          </p:spPr>
          <p:txBody>
            <a:bodyPr lIns="0" tIns="0" rIns="0" bIns="0" rtlCol="0" anchor="b"/>
            <a:lstStyle/>
            <a:p>
              <a:pPr algn="ctr">
                <a:lnSpc>
                  <a:spcPts val="12960"/>
                </a:lnSpc>
              </a:pPr>
              <a:r>
                <a:rPr lang="en-US" sz="12000" spc="16">
                  <a:solidFill>
                    <a:srgbClr val="262626"/>
                  </a:solidFill>
                  <a:latin typeface="TT Phobos"/>
                  <a:ea typeface="TT Phobos"/>
                  <a:cs typeface="TT Phobos"/>
                  <a:sym typeface="TT Phobos"/>
                </a:rPr>
                <a:t>GovSync</a:t>
              </a:r>
            </a:p>
          </p:txBody>
        </p:sp>
      </p:grpSp>
      <p:sp>
        <p:nvSpPr>
          <p:cNvPr id="9" name="Freeform 9"/>
          <p:cNvSpPr/>
          <p:nvPr/>
        </p:nvSpPr>
        <p:spPr>
          <a:xfrm>
            <a:off x="902655" y="321059"/>
            <a:ext cx="2154931" cy="1269740"/>
          </a:xfrm>
          <a:custGeom>
            <a:avLst/>
            <a:gdLst/>
            <a:ahLst/>
            <a:cxnLst/>
            <a:rect l="l" t="t" r="r" b="b"/>
            <a:pathLst>
              <a:path w="2154931" h="1269740">
                <a:moveTo>
                  <a:pt x="0" y="0"/>
                </a:moveTo>
                <a:lnTo>
                  <a:pt x="2154930" y="0"/>
                </a:lnTo>
                <a:lnTo>
                  <a:pt x="2154930" y="1269740"/>
                </a:lnTo>
                <a:lnTo>
                  <a:pt x="0" y="12697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1028700" y="7450380"/>
            <a:ext cx="1884658" cy="1884658"/>
          </a:xfrm>
          <a:custGeom>
            <a:avLst/>
            <a:gdLst/>
            <a:ahLst/>
            <a:cxnLst/>
            <a:rect l="l" t="t" r="r" b="b"/>
            <a:pathLst>
              <a:path w="1884658" h="1884658">
                <a:moveTo>
                  <a:pt x="0" y="0"/>
                </a:moveTo>
                <a:lnTo>
                  <a:pt x="1884658" y="0"/>
                </a:lnTo>
                <a:lnTo>
                  <a:pt x="1884658" y="1884658"/>
                </a:lnTo>
                <a:lnTo>
                  <a:pt x="0" y="1884658"/>
                </a:lnTo>
                <a:lnTo>
                  <a:pt x="0" y="0"/>
                </a:lnTo>
                <a:close/>
              </a:path>
            </a:pathLst>
          </a:custGeom>
          <a:blipFill>
            <a:blip r:embed="rId5"/>
            <a:stretch>
              <a:fillRect/>
            </a:stretch>
          </a:blipFill>
        </p:spPr>
        <p:txBody>
          <a:bodyPr/>
          <a:lstStyle/>
          <a:p>
            <a:endParaRPr lang="en-US"/>
          </a:p>
        </p:txBody>
      </p:sp>
      <p:sp>
        <p:nvSpPr>
          <p:cNvPr id="11" name="Freeform 11"/>
          <p:cNvSpPr/>
          <p:nvPr/>
        </p:nvSpPr>
        <p:spPr>
          <a:xfrm>
            <a:off x="3748382" y="7733742"/>
            <a:ext cx="3466279" cy="1867458"/>
          </a:xfrm>
          <a:custGeom>
            <a:avLst/>
            <a:gdLst/>
            <a:ahLst/>
            <a:cxnLst/>
            <a:rect l="l" t="t" r="r" b="b"/>
            <a:pathLst>
              <a:path w="3466279" h="1867458">
                <a:moveTo>
                  <a:pt x="0" y="0"/>
                </a:moveTo>
                <a:lnTo>
                  <a:pt x="3466280" y="0"/>
                </a:lnTo>
                <a:lnTo>
                  <a:pt x="3466280" y="1867458"/>
                </a:lnTo>
                <a:lnTo>
                  <a:pt x="0" y="1867458"/>
                </a:lnTo>
                <a:lnTo>
                  <a:pt x="0" y="0"/>
                </a:lnTo>
                <a:close/>
              </a:path>
            </a:pathLst>
          </a:custGeom>
          <a:blipFill>
            <a:blip r:embed="rId6"/>
            <a:stretch>
              <a:fillRect/>
            </a:stretch>
          </a:blipFill>
        </p:spPr>
        <p:txBody>
          <a:bodyPr/>
          <a:lstStyle/>
          <a:p>
            <a:endParaRPr lang="en-US"/>
          </a:p>
        </p:txBody>
      </p:sp>
      <p:grpSp>
        <p:nvGrpSpPr>
          <p:cNvPr id="12" name="Group 12"/>
          <p:cNvGrpSpPr/>
          <p:nvPr/>
        </p:nvGrpSpPr>
        <p:grpSpPr>
          <a:xfrm>
            <a:off x="3748382" y="1939671"/>
            <a:ext cx="7525820" cy="1356874"/>
            <a:chOff x="0" y="0"/>
            <a:chExt cx="10034427" cy="1809166"/>
          </a:xfrm>
        </p:grpSpPr>
        <p:sp>
          <p:nvSpPr>
            <p:cNvPr id="13" name="Freeform 13"/>
            <p:cNvSpPr/>
            <p:nvPr/>
          </p:nvSpPr>
          <p:spPr>
            <a:xfrm>
              <a:off x="0" y="0"/>
              <a:ext cx="10034432" cy="1809164"/>
            </a:xfrm>
            <a:custGeom>
              <a:avLst/>
              <a:gdLst/>
              <a:ahLst/>
              <a:cxnLst/>
              <a:rect l="l" t="t" r="r" b="b"/>
              <a:pathLst>
                <a:path w="10034432" h="1809164">
                  <a:moveTo>
                    <a:pt x="0" y="0"/>
                  </a:moveTo>
                  <a:lnTo>
                    <a:pt x="10034432" y="0"/>
                  </a:lnTo>
                  <a:lnTo>
                    <a:pt x="10034432" y="1809164"/>
                  </a:lnTo>
                  <a:lnTo>
                    <a:pt x="0" y="1809164"/>
                  </a:lnTo>
                  <a:close/>
                </a:path>
              </a:pathLst>
            </a:custGeom>
            <a:blipFill>
              <a:blip r:embed="rId2">
                <a:alphaModFix amt="0"/>
              </a:blip>
              <a:stretch>
                <a:fillRect t="-136482" r="-100470" b="-196825"/>
              </a:stretch>
            </a:blipFill>
          </p:spPr>
          <p:txBody>
            <a:bodyPr/>
            <a:lstStyle/>
            <a:p>
              <a:endParaRPr lang="en-US"/>
            </a:p>
          </p:txBody>
        </p:sp>
        <p:sp>
          <p:nvSpPr>
            <p:cNvPr id="14" name="TextBox 14"/>
            <p:cNvSpPr txBox="1"/>
            <p:nvPr/>
          </p:nvSpPr>
          <p:spPr>
            <a:xfrm>
              <a:off x="0" y="66675"/>
              <a:ext cx="10034427" cy="1742491"/>
            </a:xfrm>
            <a:prstGeom prst="rect">
              <a:avLst/>
            </a:prstGeom>
          </p:spPr>
          <p:txBody>
            <a:bodyPr lIns="0" tIns="0" rIns="0" bIns="0" rtlCol="0" anchor="b"/>
            <a:lstStyle/>
            <a:p>
              <a:pPr algn="l">
                <a:lnSpc>
                  <a:spcPts val="7614"/>
                </a:lnSpc>
              </a:pPr>
              <a:r>
                <a:rPr lang="en-US" sz="7050" spc="-22">
                  <a:solidFill>
                    <a:srgbClr val="404040"/>
                  </a:solidFill>
                  <a:latin typeface="TT Phobos"/>
                  <a:ea typeface="TT Phobos"/>
                  <a:cs typeface="TT Phobos"/>
                  <a:sym typeface="TT Phobos"/>
                </a:rPr>
                <a:t>Meet the Team</a:t>
              </a:r>
            </a:p>
          </p:txBody>
        </p:sp>
      </p:grpSp>
      <p:sp>
        <p:nvSpPr>
          <p:cNvPr id="15" name="Freeform 15"/>
          <p:cNvSpPr/>
          <p:nvPr/>
        </p:nvSpPr>
        <p:spPr>
          <a:xfrm>
            <a:off x="7261127" y="8104291"/>
            <a:ext cx="3770243" cy="1126360"/>
          </a:xfrm>
          <a:custGeom>
            <a:avLst/>
            <a:gdLst/>
            <a:ahLst/>
            <a:cxnLst/>
            <a:rect l="l" t="t" r="r" b="b"/>
            <a:pathLst>
              <a:path w="3770243" h="1126360">
                <a:moveTo>
                  <a:pt x="0" y="0"/>
                </a:moveTo>
                <a:lnTo>
                  <a:pt x="3770242" y="0"/>
                </a:lnTo>
                <a:lnTo>
                  <a:pt x="3770242" y="1126360"/>
                </a:lnTo>
                <a:lnTo>
                  <a:pt x="0" y="1126360"/>
                </a:lnTo>
                <a:lnTo>
                  <a:pt x="0" y="0"/>
                </a:lnTo>
                <a:close/>
              </a:path>
            </a:pathLst>
          </a:custGeom>
          <a:blipFill>
            <a:blip r:embed="rId7"/>
            <a:stretch>
              <a:fillRect/>
            </a:stretch>
          </a:blipFill>
        </p:spPr>
        <p:txBody>
          <a:bodyPr/>
          <a:lstStyle/>
          <a:p>
            <a:endParaRPr lang="en-US"/>
          </a:p>
        </p:txBody>
      </p:sp>
      <p:sp>
        <p:nvSpPr>
          <p:cNvPr id="16" name="Freeform 16"/>
          <p:cNvSpPr/>
          <p:nvPr/>
        </p:nvSpPr>
        <p:spPr>
          <a:xfrm>
            <a:off x="11274203" y="7994171"/>
            <a:ext cx="3199021" cy="1264129"/>
          </a:xfrm>
          <a:custGeom>
            <a:avLst/>
            <a:gdLst/>
            <a:ahLst/>
            <a:cxnLst/>
            <a:rect l="l" t="t" r="r" b="b"/>
            <a:pathLst>
              <a:path w="3199021" h="1264129">
                <a:moveTo>
                  <a:pt x="0" y="0"/>
                </a:moveTo>
                <a:lnTo>
                  <a:pt x="3199021" y="0"/>
                </a:lnTo>
                <a:lnTo>
                  <a:pt x="3199021" y="1264129"/>
                </a:lnTo>
                <a:lnTo>
                  <a:pt x="0" y="1264129"/>
                </a:lnTo>
                <a:lnTo>
                  <a:pt x="0" y="0"/>
                </a:lnTo>
                <a:close/>
              </a:path>
            </a:pathLst>
          </a:custGeom>
          <a:blipFill>
            <a:blip r:embed="rId8"/>
            <a:stretch>
              <a:fillRect/>
            </a:stretch>
          </a:blipFill>
        </p:spPr>
        <p:txBody>
          <a:bodyPr/>
          <a:lstStyle/>
          <a:p>
            <a:endParaRPr lang="en-US"/>
          </a:p>
        </p:txBody>
      </p:sp>
      <p:sp>
        <p:nvSpPr>
          <p:cNvPr id="17" name="TextBox 17"/>
          <p:cNvSpPr txBox="1"/>
          <p:nvPr/>
        </p:nvSpPr>
        <p:spPr>
          <a:xfrm>
            <a:off x="1637828" y="4104421"/>
            <a:ext cx="14583523" cy="3779907"/>
          </a:xfrm>
          <a:prstGeom prst="rect">
            <a:avLst/>
          </a:prstGeom>
        </p:spPr>
        <p:txBody>
          <a:bodyPr lIns="0" tIns="0" rIns="0" bIns="0" rtlCol="0" anchor="t">
            <a:spAutoFit/>
          </a:bodyPr>
          <a:lstStyle/>
          <a:p>
            <a:pPr marL="583574" lvl="1" indent="-291787" algn="l">
              <a:lnSpc>
                <a:spcPts val="4256"/>
              </a:lnSpc>
              <a:buAutoNum type="arabicPeriod"/>
            </a:pPr>
            <a:r>
              <a:rPr lang="en-US" sz="3224" b="1" spc="534">
                <a:solidFill>
                  <a:srgbClr val="262626"/>
                </a:solidFill>
                <a:latin typeface="ITC Franklin Gothic LT Semi-Bold"/>
                <a:ea typeface="ITC Franklin Gothic LT Semi-Bold"/>
                <a:cs typeface="ITC Franklin Gothic LT Semi-Bold"/>
                <a:sym typeface="ITC Franklin Gothic LT Semi-Bold"/>
              </a:rPr>
              <a:t>Sangesonke njameni </a:t>
            </a:r>
            <a:r>
              <a:rPr lang="en-US" sz="3224" spc="534">
                <a:solidFill>
                  <a:srgbClr val="262626"/>
                </a:solidFill>
                <a:latin typeface="ITC Franklin Gothic LT"/>
                <a:ea typeface="ITC Franklin Gothic LT"/>
                <a:cs typeface="ITC Franklin Gothic LT"/>
                <a:sym typeface="ITC Franklin Gothic LT"/>
              </a:rPr>
              <a:t>(Project Manager &amp; Programmer)</a:t>
            </a:r>
          </a:p>
          <a:p>
            <a:pPr marL="583574" lvl="1" indent="-291787" algn="l">
              <a:lnSpc>
                <a:spcPts val="4256"/>
              </a:lnSpc>
              <a:buAutoNum type="arabicPeriod"/>
            </a:pPr>
            <a:r>
              <a:rPr lang="en-US" sz="3224" b="1" spc="534">
                <a:solidFill>
                  <a:srgbClr val="262626"/>
                </a:solidFill>
                <a:latin typeface="ITC Franklin Gothic LT Semi-Bold"/>
                <a:ea typeface="ITC Franklin Gothic LT Semi-Bold"/>
                <a:cs typeface="ITC Franklin Gothic LT Semi-Bold"/>
                <a:sym typeface="ITC Franklin Gothic LT Semi-Bold"/>
              </a:rPr>
              <a:t>Cj may </a:t>
            </a:r>
            <a:r>
              <a:rPr lang="en-US" sz="3224" spc="534">
                <a:solidFill>
                  <a:srgbClr val="262626"/>
                </a:solidFill>
                <a:latin typeface="ITC Franklin Gothic LT"/>
                <a:ea typeface="ITC Franklin Gothic LT"/>
                <a:cs typeface="ITC Franklin Gothic LT"/>
                <a:sym typeface="ITC Franklin Gothic LT"/>
              </a:rPr>
              <a:t>(Developer)</a:t>
            </a:r>
          </a:p>
          <a:p>
            <a:pPr marL="583574" lvl="1" indent="-291787" algn="l">
              <a:lnSpc>
                <a:spcPts val="4256"/>
              </a:lnSpc>
              <a:buAutoNum type="arabicPeriod"/>
            </a:pPr>
            <a:r>
              <a:rPr lang="en-US" sz="3224" b="1" spc="534">
                <a:solidFill>
                  <a:srgbClr val="262626"/>
                </a:solidFill>
                <a:latin typeface="ITC Franklin Gothic LT Semi-Bold"/>
                <a:ea typeface="ITC Franklin Gothic LT Semi-Bold"/>
                <a:cs typeface="ITC Franklin Gothic LT Semi-Bold"/>
                <a:sym typeface="ITC Franklin Gothic LT Semi-Bold"/>
              </a:rPr>
              <a:t>Tidimatso malatji </a:t>
            </a:r>
            <a:r>
              <a:rPr lang="en-US" sz="3224" spc="534">
                <a:solidFill>
                  <a:srgbClr val="262626"/>
                </a:solidFill>
                <a:latin typeface="ITC Franklin Gothic LT"/>
                <a:ea typeface="ITC Franklin Gothic LT"/>
                <a:cs typeface="ITC Franklin Gothic LT"/>
                <a:sym typeface="ITC Franklin Gothic LT"/>
              </a:rPr>
              <a:t>(Business Analyst)</a:t>
            </a:r>
          </a:p>
          <a:p>
            <a:pPr marL="583574" lvl="1" indent="-291787" algn="l">
              <a:lnSpc>
                <a:spcPts val="4256"/>
              </a:lnSpc>
              <a:buAutoNum type="arabicPeriod"/>
            </a:pPr>
            <a:r>
              <a:rPr lang="en-US" sz="3224" b="1" spc="534">
                <a:solidFill>
                  <a:srgbClr val="262626"/>
                </a:solidFill>
                <a:latin typeface="ITC Franklin Gothic LT Semi-Bold"/>
                <a:ea typeface="ITC Franklin Gothic LT Semi-Bold"/>
                <a:cs typeface="ITC Franklin Gothic LT Semi-Bold"/>
                <a:sym typeface="ITC Franklin Gothic LT Semi-Bold"/>
              </a:rPr>
              <a:t>Luthando ndlaku </a:t>
            </a:r>
            <a:r>
              <a:rPr lang="en-US" sz="3224" spc="534">
                <a:solidFill>
                  <a:srgbClr val="262626"/>
                </a:solidFill>
                <a:latin typeface="ITC Franklin Gothic LT"/>
                <a:ea typeface="ITC Franklin Gothic LT"/>
                <a:cs typeface="ITC Franklin Gothic LT"/>
                <a:sym typeface="ITC Franklin Gothic LT"/>
              </a:rPr>
              <a:t>(Business Analyst)</a:t>
            </a:r>
          </a:p>
          <a:p>
            <a:pPr marL="583574" lvl="1" indent="-291787" algn="l">
              <a:lnSpc>
                <a:spcPts val="4256"/>
              </a:lnSpc>
              <a:buAutoNum type="arabicPeriod"/>
            </a:pPr>
            <a:r>
              <a:rPr lang="en-US" sz="3224" b="1" spc="534">
                <a:solidFill>
                  <a:srgbClr val="262626"/>
                </a:solidFill>
                <a:latin typeface="ITC Franklin Gothic LT Semi-Bold"/>
                <a:ea typeface="ITC Franklin Gothic LT Semi-Bold"/>
                <a:cs typeface="ITC Franklin Gothic LT Semi-Bold"/>
                <a:sym typeface="ITC Franklin Gothic LT Semi-Bold"/>
              </a:rPr>
              <a:t>Lakheni nogula </a:t>
            </a:r>
            <a:r>
              <a:rPr lang="en-US" sz="3224" spc="534">
                <a:solidFill>
                  <a:srgbClr val="262626"/>
                </a:solidFill>
                <a:latin typeface="ITC Franklin Gothic LT"/>
                <a:ea typeface="ITC Franklin Gothic LT"/>
                <a:cs typeface="ITC Franklin Gothic LT"/>
                <a:sym typeface="ITC Franklin Gothic LT"/>
              </a:rPr>
              <a:t>(Developer)</a:t>
            </a:r>
          </a:p>
          <a:p>
            <a:pPr marL="583574" lvl="1" indent="-291787" algn="l">
              <a:lnSpc>
                <a:spcPts val="4256"/>
              </a:lnSpc>
            </a:pPr>
            <a:endParaRPr lang="en-US" sz="3224" spc="534">
              <a:solidFill>
                <a:srgbClr val="262626"/>
              </a:solidFill>
              <a:latin typeface="ITC Franklin Gothic LT"/>
              <a:ea typeface="ITC Franklin Gothic LT"/>
              <a:cs typeface="ITC Franklin Gothic LT"/>
              <a:sym typeface="ITC Franklin Gothic LT"/>
            </a:endParaRPr>
          </a:p>
          <a:p>
            <a:pPr marL="583574" lvl="1" indent="-291787" algn="l">
              <a:lnSpc>
                <a:spcPts val="4256"/>
              </a:lnSpc>
            </a:pPr>
            <a:endParaRPr lang="en-US" sz="3224" spc="534">
              <a:solidFill>
                <a:srgbClr val="262626"/>
              </a:solidFill>
              <a:latin typeface="ITC Franklin Gothic LT"/>
              <a:ea typeface="ITC Franklin Gothic LT"/>
              <a:cs typeface="ITC Franklin Gothic LT"/>
              <a:sym typeface="ITC Franklin Gothic LT"/>
            </a:endParaRPr>
          </a:p>
        </p:txBody>
      </p:sp>
      <p:sp>
        <p:nvSpPr>
          <p:cNvPr id="18" name="TextBox 18"/>
          <p:cNvSpPr txBox="1"/>
          <p:nvPr/>
        </p:nvSpPr>
        <p:spPr>
          <a:xfrm>
            <a:off x="763450" y="2177796"/>
            <a:ext cx="2483683" cy="305003"/>
          </a:xfrm>
          <a:prstGeom prst="rect">
            <a:avLst/>
          </a:prstGeom>
        </p:spPr>
        <p:txBody>
          <a:bodyPr lIns="0" tIns="0" rIns="0" bIns="0" rtlCol="0" anchor="t">
            <a:spAutoFit/>
          </a:bodyPr>
          <a:lstStyle/>
          <a:p>
            <a:pPr algn="ctr">
              <a:lnSpc>
                <a:spcPts val="1184"/>
              </a:lnSpc>
              <a:spcBef>
                <a:spcPct val="0"/>
              </a:spcBef>
            </a:pPr>
            <a:r>
              <a:rPr lang="en-US" sz="846" b="1" i="1" spc="211" dirty="0">
                <a:solidFill>
                  <a:srgbClr val="521221"/>
                </a:solidFill>
                <a:latin typeface="Poppins Bold Italics"/>
                <a:ea typeface="Poppins Bold Italics"/>
                <a:cs typeface="Poppins Bold Italics"/>
                <a:sym typeface="Poppins Bold Italics"/>
              </a:rPr>
              <a:t>WHERE CITIZENS AND GOVERNMENT SYNC.</a:t>
            </a:r>
          </a:p>
        </p:txBody>
      </p:sp>
      <p:sp>
        <p:nvSpPr>
          <p:cNvPr id="19" name="TextBox 19"/>
          <p:cNvSpPr txBox="1"/>
          <p:nvPr/>
        </p:nvSpPr>
        <p:spPr>
          <a:xfrm>
            <a:off x="262201" y="1627609"/>
            <a:ext cx="3486182" cy="483512"/>
          </a:xfrm>
          <a:prstGeom prst="rect">
            <a:avLst/>
          </a:prstGeom>
        </p:spPr>
        <p:txBody>
          <a:bodyPr lIns="0" tIns="0" rIns="0" bIns="0" rtlCol="0" anchor="t">
            <a:spAutoFit/>
          </a:bodyPr>
          <a:lstStyle/>
          <a:p>
            <a:pPr marL="0" lvl="0" indent="0" algn="ctr">
              <a:lnSpc>
                <a:spcPts val="3957"/>
              </a:lnSpc>
              <a:spcBef>
                <a:spcPct val="0"/>
              </a:spcBef>
            </a:pPr>
            <a:r>
              <a:rPr lang="en-US" sz="2826" b="1" spc="28" dirty="0">
                <a:solidFill>
                  <a:srgbClr val="000000"/>
                </a:solidFill>
                <a:latin typeface="Glacial Indifference Bold"/>
                <a:ea typeface="Glacial Indifference Bold"/>
                <a:cs typeface="Glacial Indifference Bold"/>
                <a:sym typeface="Glacial Indifference Bold"/>
              </a:rPr>
              <a:t>GOVSYNC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58" y="9601200"/>
            <a:ext cx="18282780" cy="685257"/>
            <a:chOff x="0" y="0"/>
            <a:chExt cx="24377040" cy="913676"/>
          </a:xfrm>
        </p:grpSpPr>
        <p:sp>
          <p:nvSpPr>
            <p:cNvPr id="3" name="Freeform 3"/>
            <p:cNvSpPr/>
            <p:nvPr/>
          </p:nvSpPr>
          <p:spPr>
            <a:xfrm>
              <a:off x="0" y="0"/>
              <a:ext cx="24377014" cy="913638"/>
            </a:xfrm>
            <a:custGeom>
              <a:avLst/>
              <a:gdLst/>
              <a:ahLst/>
              <a:cxnLst/>
              <a:rect l="l" t="t" r="r" b="b"/>
              <a:pathLst>
                <a:path w="24377014" h="913638">
                  <a:moveTo>
                    <a:pt x="0" y="0"/>
                  </a:moveTo>
                  <a:lnTo>
                    <a:pt x="24377014" y="0"/>
                  </a:lnTo>
                  <a:lnTo>
                    <a:pt x="24377014" y="913638"/>
                  </a:lnTo>
                  <a:lnTo>
                    <a:pt x="0" y="913638"/>
                  </a:lnTo>
                  <a:close/>
                </a:path>
              </a:pathLst>
            </a:custGeom>
            <a:solidFill>
              <a:srgbClr val="262626"/>
            </a:solidFill>
          </p:spPr>
          <p:txBody>
            <a:bodyPr/>
            <a:lstStyle/>
            <a:p>
              <a:endParaRPr lang="en-US"/>
            </a:p>
          </p:txBody>
        </p:sp>
      </p:grpSp>
      <p:sp>
        <p:nvSpPr>
          <p:cNvPr id="4" name="AutoShape 4"/>
          <p:cNvSpPr/>
          <p:nvPr/>
        </p:nvSpPr>
        <p:spPr>
          <a:xfrm rot="120">
            <a:off x="1790100" y="2841308"/>
            <a:ext cx="14950983" cy="0"/>
          </a:xfrm>
          <a:prstGeom prst="line">
            <a:avLst/>
          </a:prstGeom>
          <a:ln w="9525" cap="rnd">
            <a:solidFill>
              <a:srgbClr val="000000"/>
            </a:solidFill>
            <a:prstDash val="solid"/>
            <a:headEnd type="none" w="sm" len="sm"/>
            <a:tailEnd type="none" w="sm" len="sm"/>
          </a:ln>
        </p:spPr>
        <p:txBody>
          <a:bodyPr/>
          <a:lstStyle/>
          <a:p>
            <a:endParaRPr lang="en-US"/>
          </a:p>
        </p:txBody>
      </p:sp>
      <p:grpSp>
        <p:nvGrpSpPr>
          <p:cNvPr id="5" name="Group 5"/>
          <p:cNvGrpSpPr/>
          <p:nvPr/>
        </p:nvGrpSpPr>
        <p:grpSpPr>
          <a:xfrm>
            <a:off x="1645920" y="429844"/>
            <a:ext cx="15087057" cy="2175662"/>
            <a:chOff x="0" y="0"/>
            <a:chExt cx="20116076" cy="2900883"/>
          </a:xfrm>
        </p:grpSpPr>
        <p:sp>
          <p:nvSpPr>
            <p:cNvPr id="6" name="Freeform 6"/>
            <p:cNvSpPr/>
            <p:nvPr/>
          </p:nvSpPr>
          <p:spPr>
            <a:xfrm>
              <a:off x="0" y="0"/>
              <a:ext cx="20116081" cy="2900880"/>
            </a:xfrm>
            <a:custGeom>
              <a:avLst/>
              <a:gdLst/>
              <a:ahLst/>
              <a:cxnLst/>
              <a:rect l="l" t="t" r="r" b="b"/>
              <a:pathLst>
                <a:path w="20116081" h="2900880">
                  <a:moveTo>
                    <a:pt x="0" y="0"/>
                  </a:moveTo>
                  <a:lnTo>
                    <a:pt x="20116081" y="0"/>
                  </a:lnTo>
                  <a:lnTo>
                    <a:pt x="20116081" y="2900880"/>
                  </a:lnTo>
                  <a:lnTo>
                    <a:pt x="0" y="2900880"/>
                  </a:lnTo>
                  <a:close/>
                </a:path>
              </a:pathLst>
            </a:custGeom>
            <a:blipFill>
              <a:blip r:embed="rId2">
                <a:alphaModFix amt="0"/>
              </a:blip>
              <a:stretch>
                <a:fillRect t="-85118" b="-85118"/>
              </a:stretch>
            </a:blipFill>
          </p:spPr>
          <p:txBody>
            <a:bodyPr/>
            <a:lstStyle/>
            <a:p>
              <a:endParaRPr lang="en-US"/>
            </a:p>
          </p:txBody>
        </p:sp>
        <p:sp>
          <p:nvSpPr>
            <p:cNvPr id="7" name="TextBox 7"/>
            <p:cNvSpPr txBox="1"/>
            <p:nvPr/>
          </p:nvSpPr>
          <p:spPr>
            <a:xfrm>
              <a:off x="0" y="66675"/>
              <a:ext cx="20116076" cy="2834208"/>
            </a:xfrm>
            <a:prstGeom prst="rect">
              <a:avLst/>
            </a:prstGeom>
          </p:spPr>
          <p:txBody>
            <a:bodyPr lIns="0" tIns="0" rIns="0" bIns="0" rtlCol="0" anchor="b"/>
            <a:lstStyle/>
            <a:p>
              <a:pPr algn="l">
                <a:lnSpc>
                  <a:spcPts val="7614"/>
                </a:lnSpc>
              </a:pPr>
              <a:r>
                <a:rPr lang="en-US" sz="7050" spc="-22">
                  <a:solidFill>
                    <a:srgbClr val="404040"/>
                  </a:solidFill>
                  <a:latin typeface="TT Phobos"/>
                  <a:ea typeface="TT Phobos"/>
                  <a:cs typeface="TT Phobos"/>
                  <a:sym typeface="TT Phobos"/>
                </a:rPr>
                <a:t>Problem Statement </a:t>
              </a:r>
            </a:p>
          </p:txBody>
        </p:sp>
      </p:grpSp>
      <p:sp>
        <p:nvSpPr>
          <p:cNvPr id="8" name="TextBox 8"/>
          <p:cNvSpPr txBox="1"/>
          <p:nvPr/>
        </p:nvSpPr>
        <p:spPr>
          <a:xfrm>
            <a:off x="1645920" y="3272009"/>
            <a:ext cx="13242417" cy="5644648"/>
          </a:xfrm>
          <a:prstGeom prst="rect">
            <a:avLst/>
          </a:prstGeom>
        </p:spPr>
        <p:txBody>
          <a:bodyPr lIns="0" tIns="0" rIns="0" bIns="0" rtlCol="0" anchor="t">
            <a:spAutoFit/>
          </a:bodyPr>
          <a:lstStyle/>
          <a:p>
            <a:pPr marL="515779" lvl="1" indent="-257889" algn="l">
              <a:lnSpc>
                <a:spcPts val="3762"/>
              </a:lnSpc>
              <a:buFont typeface="Arial"/>
              <a:buChar char="•"/>
            </a:pPr>
            <a:r>
              <a:rPr lang="en-US" sz="2850" spc="-1">
                <a:solidFill>
                  <a:srgbClr val="404040"/>
                </a:solidFill>
                <a:latin typeface="ITC Franklin Gothic LT"/>
                <a:ea typeface="ITC Franklin Gothic LT"/>
                <a:cs typeface="ITC Franklin Gothic LT"/>
                <a:sym typeface="ITC Franklin Gothic LT"/>
              </a:rPr>
              <a:t>South Africans struggle with public services because of long queues, no waiting time information, poor issue reporting, no feedback, slow handling of requests, and no live updates.</a:t>
            </a:r>
          </a:p>
          <a:p>
            <a:pPr marL="515779" lvl="1" indent="-257889" algn="l">
              <a:lnSpc>
                <a:spcPts val="3762"/>
              </a:lnSpc>
              <a:buFont typeface="Arial"/>
              <a:buChar char="•"/>
            </a:pPr>
            <a:r>
              <a:rPr lang="en-US" sz="2850" spc="-1">
                <a:solidFill>
                  <a:srgbClr val="404040"/>
                </a:solidFill>
                <a:latin typeface="ITC Franklin Gothic LT"/>
                <a:ea typeface="ITC Franklin Gothic LT"/>
                <a:cs typeface="ITC Franklin Gothic LT"/>
                <a:sym typeface="ITC Franklin Gothic LT"/>
              </a:rPr>
              <a:t>This leads to wasted time, frustration, poor service, low trust in government, and people not knowing what is happening with services or their reports.</a:t>
            </a:r>
          </a:p>
          <a:p>
            <a:pPr marL="515779" lvl="1" indent="-257889" algn="l">
              <a:lnSpc>
                <a:spcPts val="3762"/>
              </a:lnSpc>
            </a:pPr>
            <a:endParaRPr lang="en-US" sz="2850" spc="-1">
              <a:solidFill>
                <a:srgbClr val="404040"/>
              </a:solidFill>
              <a:latin typeface="ITC Franklin Gothic LT"/>
              <a:ea typeface="ITC Franklin Gothic LT"/>
              <a:cs typeface="ITC Franklin Gothic LT"/>
              <a:sym typeface="ITC Franklin Gothic LT"/>
            </a:endParaRPr>
          </a:p>
          <a:p>
            <a:pPr marL="515779" lvl="1" indent="-257889" algn="l">
              <a:lnSpc>
                <a:spcPts val="3762"/>
              </a:lnSpc>
            </a:pPr>
            <a:endParaRPr lang="en-US" sz="2850" spc="-1">
              <a:solidFill>
                <a:srgbClr val="404040"/>
              </a:solidFill>
              <a:latin typeface="ITC Franklin Gothic LT"/>
              <a:ea typeface="ITC Franklin Gothic LT"/>
              <a:cs typeface="ITC Franklin Gothic LT"/>
              <a:sym typeface="ITC Franklin Gothic LT"/>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58" y="9601200"/>
            <a:ext cx="18282780" cy="685257"/>
            <a:chOff x="0" y="0"/>
            <a:chExt cx="24377040" cy="913676"/>
          </a:xfrm>
        </p:grpSpPr>
        <p:sp>
          <p:nvSpPr>
            <p:cNvPr id="3" name="Freeform 3"/>
            <p:cNvSpPr/>
            <p:nvPr/>
          </p:nvSpPr>
          <p:spPr>
            <a:xfrm>
              <a:off x="0" y="0"/>
              <a:ext cx="24377014" cy="913638"/>
            </a:xfrm>
            <a:custGeom>
              <a:avLst/>
              <a:gdLst/>
              <a:ahLst/>
              <a:cxnLst/>
              <a:rect l="l" t="t" r="r" b="b"/>
              <a:pathLst>
                <a:path w="24377014" h="913638">
                  <a:moveTo>
                    <a:pt x="0" y="0"/>
                  </a:moveTo>
                  <a:lnTo>
                    <a:pt x="24377014" y="0"/>
                  </a:lnTo>
                  <a:lnTo>
                    <a:pt x="24377014" y="913638"/>
                  </a:lnTo>
                  <a:lnTo>
                    <a:pt x="0" y="913638"/>
                  </a:lnTo>
                  <a:close/>
                </a:path>
              </a:pathLst>
            </a:custGeom>
            <a:solidFill>
              <a:srgbClr val="262626"/>
            </a:solidFill>
          </p:spPr>
          <p:txBody>
            <a:bodyPr/>
            <a:lstStyle/>
            <a:p>
              <a:endParaRPr lang="en-US"/>
            </a:p>
          </p:txBody>
        </p:sp>
      </p:grpSp>
      <p:sp>
        <p:nvSpPr>
          <p:cNvPr id="4" name="AutoShape 4"/>
          <p:cNvSpPr/>
          <p:nvPr/>
        </p:nvSpPr>
        <p:spPr>
          <a:xfrm rot="120">
            <a:off x="1790100" y="2841308"/>
            <a:ext cx="14950983" cy="0"/>
          </a:xfrm>
          <a:prstGeom prst="line">
            <a:avLst/>
          </a:prstGeom>
          <a:ln w="9525" cap="rnd">
            <a:solidFill>
              <a:srgbClr val="000000"/>
            </a:solidFill>
            <a:prstDash val="solid"/>
            <a:headEnd type="none" w="sm" len="sm"/>
            <a:tailEnd type="none" w="sm" len="sm"/>
          </a:ln>
        </p:spPr>
        <p:txBody>
          <a:bodyPr/>
          <a:lstStyle/>
          <a:p>
            <a:endParaRPr lang="en-US"/>
          </a:p>
        </p:txBody>
      </p:sp>
      <p:grpSp>
        <p:nvGrpSpPr>
          <p:cNvPr id="5" name="Group 5"/>
          <p:cNvGrpSpPr/>
          <p:nvPr/>
        </p:nvGrpSpPr>
        <p:grpSpPr>
          <a:xfrm>
            <a:off x="1645920" y="429844"/>
            <a:ext cx="15087057" cy="2175662"/>
            <a:chOff x="0" y="0"/>
            <a:chExt cx="20116076" cy="2900883"/>
          </a:xfrm>
        </p:grpSpPr>
        <p:sp>
          <p:nvSpPr>
            <p:cNvPr id="6" name="Freeform 6"/>
            <p:cNvSpPr/>
            <p:nvPr/>
          </p:nvSpPr>
          <p:spPr>
            <a:xfrm>
              <a:off x="0" y="0"/>
              <a:ext cx="20116081" cy="2900880"/>
            </a:xfrm>
            <a:custGeom>
              <a:avLst/>
              <a:gdLst/>
              <a:ahLst/>
              <a:cxnLst/>
              <a:rect l="l" t="t" r="r" b="b"/>
              <a:pathLst>
                <a:path w="20116081" h="2900880">
                  <a:moveTo>
                    <a:pt x="0" y="0"/>
                  </a:moveTo>
                  <a:lnTo>
                    <a:pt x="20116081" y="0"/>
                  </a:lnTo>
                  <a:lnTo>
                    <a:pt x="20116081" y="2900880"/>
                  </a:lnTo>
                  <a:lnTo>
                    <a:pt x="0" y="2900880"/>
                  </a:lnTo>
                  <a:close/>
                </a:path>
              </a:pathLst>
            </a:custGeom>
            <a:blipFill>
              <a:blip r:embed="rId2">
                <a:alphaModFix amt="0"/>
              </a:blip>
              <a:stretch>
                <a:fillRect t="-85118" b="-85118"/>
              </a:stretch>
            </a:blipFill>
          </p:spPr>
          <p:txBody>
            <a:bodyPr/>
            <a:lstStyle/>
            <a:p>
              <a:endParaRPr lang="en-US"/>
            </a:p>
          </p:txBody>
        </p:sp>
        <p:sp>
          <p:nvSpPr>
            <p:cNvPr id="7" name="TextBox 7"/>
            <p:cNvSpPr txBox="1"/>
            <p:nvPr/>
          </p:nvSpPr>
          <p:spPr>
            <a:xfrm>
              <a:off x="0" y="66675"/>
              <a:ext cx="20116076" cy="2834208"/>
            </a:xfrm>
            <a:prstGeom prst="rect">
              <a:avLst/>
            </a:prstGeom>
          </p:spPr>
          <p:txBody>
            <a:bodyPr lIns="0" tIns="0" rIns="0" bIns="0" rtlCol="0" anchor="b"/>
            <a:lstStyle/>
            <a:p>
              <a:pPr algn="l">
                <a:lnSpc>
                  <a:spcPts val="7614"/>
                </a:lnSpc>
              </a:pPr>
              <a:r>
                <a:rPr lang="en-US" sz="7050" spc="-22">
                  <a:solidFill>
                    <a:srgbClr val="404040"/>
                  </a:solidFill>
                  <a:latin typeface="TT Phobos"/>
                  <a:ea typeface="TT Phobos"/>
                  <a:cs typeface="TT Phobos"/>
                  <a:sym typeface="TT Phobos"/>
                </a:rPr>
                <a:t>Solution </a:t>
              </a:r>
            </a:p>
          </p:txBody>
        </p:sp>
      </p:grpSp>
      <p:sp>
        <p:nvSpPr>
          <p:cNvPr id="8" name="TextBox 8"/>
          <p:cNvSpPr txBox="1"/>
          <p:nvPr/>
        </p:nvSpPr>
        <p:spPr>
          <a:xfrm>
            <a:off x="1645920" y="3112713"/>
            <a:ext cx="15087057" cy="3385566"/>
          </a:xfrm>
          <a:prstGeom prst="rect">
            <a:avLst/>
          </a:prstGeom>
        </p:spPr>
        <p:txBody>
          <a:bodyPr lIns="0" tIns="0" rIns="0" bIns="0" rtlCol="0" anchor="t">
            <a:spAutoFit/>
          </a:bodyPr>
          <a:lstStyle/>
          <a:p>
            <a:pPr marL="515779" lvl="1" indent="-257889" algn="l">
              <a:lnSpc>
                <a:spcPts val="3762"/>
              </a:lnSpc>
              <a:buFont typeface="Arial"/>
              <a:buChar char="•"/>
            </a:pPr>
            <a:r>
              <a:rPr lang="en-US" sz="2850" spc="-1">
                <a:solidFill>
                  <a:srgbClr val="404040"/>
                </a:solidFill>
                <a:latin typeface="ITC Franklin Gothic LT"/>
                <a:ea typeface="ITC Franklin Gothic LT"/>
                <a:cs typeface="ITC Franklin Gothic LT"/>
                <a:sym typeface="ITC Franklin Gothic LT"/>
              </a:rPr>
              <a:t>The solution is a web and mobile-based AI platform that helps citizens and government services work better together.</a:t>
            </a:r>
          </a:p>
          <a:p>
            <a:pPr marL="515779" lvl="1" indent="-257889" algn="l">
              <a:lnSpc>
                <a:spcPts val="3762"/>
              </a:lnSpc>
              <a:buFont typeface="Arial"/>
              <a:buChar char="•"/>
            </a:pPr>
            <a:r>
              <a:rPr lang="en-US" sz="2850" spc="-1">
                <a:solidFill>
                  <a:srgbClr val="404040"/>
                </a:solidFill>
                <a:latin typeface="ITC Franklin Gothic LT"/>
                <a:ea typeface="ITC Franklin Gothic LT"/>
                <a:cs typeface="ITC Franklin Gothic LT"/>
                <a:sym typeface="ITC Franklin Gothic LT"/>
              </a:rPr>
              <a:t>People can report problems using pictures, and AI will automatically identify and send them to the right department. The system will also predict queue times, help users book appointments, and guide them to less busy locations.</a:t>
            </a:r>
          </a:p>
          <a:p>
            <a:pPr marL="515779" lvl="1" indent="-257889" algn="l">
              <a:lnSpc>
                <a:spcPts val="3762"/>
              </a:lnSpc>
              <a:buFont typeface="Arial"/>
              <a:buChar char="•"/>
            </a:pPr>
            <a:r>
              <a:rPr lang="en-US" sz="2850" spc="-1">
                <a:solidFill>
                  <a:srgbClr val="404040"/>
                </a:solidFill>
                <a:latin typeface="ITC Franklin Gothic LT"/>
                <a:ea typeface="ITC Franklin Gothic LT"/>
                <a:cs typeface="ITC Franklin Gothic LT"/>
                <a:sym typeface="ITC Franklin Gothic LT"/>
              </a:rPr>
              <a:t>It will show live updates on reported issues and send government news, making services faster, more transparent, and easier to use.</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58" y="9601200"/>
            <a:ext cx="18282780" cy="685257"/>
            <a:chOff x="0" y="0"/>
            <a:chExt cx="24377040" cy="913676"/>
          </a:xfrm>
        </p:grpSpPr>
        <p:sp>
          <p:nvSpPr>
            <p:cNvPr id="3" name="Freeform 3"/>
            <p:cNvSpPr/>
            <p:nvPr/>
          </p:nvSpPr>
          <p:spPr>
            <a:xfrm>
              <a:off x="0" y="0"/>
              <a:ext cx="24377014" cy="913638"/>
            </a:xfrm>
            <a:custGeom>
              <a:avLst/>
              <a:gdLst/>
              <a:ahLst/>
              <a:cxnLst/>
              <a:rect l="l" t="t" r="r" b="b"/>
              <a:pathLst>
                <a:path w="24377014" h="913638">
                  <a:moveTo>
                    <a:pt x="0" y="0"/>
                  </a:moveTo>
                  <a:lnTo>
                    <a:pt x="24377014" y="0"/>
                  </a:lnTo>
                  <a:lnTo>
                    <a:pt x="24377014" y="913638"/>
                  </a:lnTo>
                  <a:lnTo>
                    <a:pt x="0" y="913638"/>
                  </a:lnTo>
                  <a:close/>
                </a:path>
              </a:pathLst>
            </a:custGeom>
            <a:solidFill>
              <a:srgbClr val="262626"/>
            </a:solidFill>
          </p:spPr>
          <p:txBody>
            <a:bodyPr/>
            <a:lstStyle/>
            <a:p>
              <a:endParaRPr lang="en-US"/>
            </a:p>
          </p:txBody>
        </p:sp>
      </p:grpSp>
      <p:sp>
        <p:nvSpPr>
          <p:cNvPr id="4" name="AutoShape 4"/>
          <p:cNvSpPr/>
          <p:nvPr/>
        </p:nvSpPr>
        <p:spPr>
          <a:xfrm rot="120">
            <a:off x="1790100" y="2841308"/>
            <a:ext cx="14950983" cy="0"/>
          </a:xfrm>
          <a:prstGeom prst="line">
            <a:avLst/>
          </a:prstGeom>
          <a:ln w="9525" cap="rnd">
            <a:solidFill>
              <a:srgbClr val="000000"/>
            </a:solidFill>
            <a:prstDash val="solid"/>
            <a:headEnd type="none" w="sm" len="sm"/>
            <a:tailEnd type="none" w="sm" len="sm"/>
          </a:ln>
        </p:spPr>
        <p:txBody>
          <a:bodyPr/>
          <a:lstStyle/>
          <a:p>
            <a:endParaRPr lang="en-US"/>
          </a:p>
        </p:txBody>
      </p:sp>
      <p:grpSp>
        <p:nvGrpSpPr>
          <p:cNvPr id="5" name="Group 5"/>
          <p:cNvGrpSpPr/>
          <p:nvPr/>
        </p:nvGrpSpPr>
        <p:grpSpPr>
          <a:xfrm>
            <a:off x="1645920" y="429844"/>
            <a:ext cx="15087057" cy="2175662"/>
            <a:chOff x="0" y="0"/>
            <a:chExt cx="20116076" cy="2900883"/>
          </a:xfrm>
        </p:grpSpPr>
        <p:sp>
          <p:nvSpPr>
            <p:cNvPr id="6" name="Freeform 6"/>
            <p:cNvSpPr/>
            <p:nvPr/>
          </p:nvSpPr>
          <p:spPr>
            <a:xfrm>
              <a:off x="0" y="0"/>
              <a:ext cx="20116081" cy="2900880"/>
            </a:xfrm>
            <a:custGeom>
              <a:avLst/>
              <a:gdLst/>
              <a:ahLst/>
              <a:cxnLst/>
              <a:rect l="l" t="t" r="r" b="b"/>
              <a:pathLst>
                <a:path w="20116081" h="2900880">
                  <a:moveTo>
                    <a:pt x="0" y="0"/>
                  </a:moveTo>
                  <a:lnTo>
                    <a:pt x="20116081" y="0"/>
                  </a:lnTo>
                  <a:lnTo>
                    <a:pt x="20116081" y="2900880"/>
                  </a:lnTo>
                  <a:lnTo>
                    <a:pt x="0" y="2900880"/>
                  </a:lnTo>
                  <a:close/>
                </a:path>
              </a:pathLst>
            </a:custGeom>
            <a:blipFill>
              <a:blip r:embed="rId2">
                <a:alphaModFix amt="0"/>
              </a:blip>
              <a:stretch>
                <a:fillRect t="-85118" b="-85118"/>
              </a:stretch>
            </a:blipFill>
          </p:spPr>
          <p:txBody>
            <a:bodyPr/>
            <a:lstStyle/>
            <a:p>
              <a:endParaRPr lang="en-US"/>
            </a:p>
          </p:txBody>
        </p:sp>
        <p:sp>
          <p:nvSpPr>
            <p:cNvPr id="7" name="TextBox 7"/>
            <p:cNvSpPr txBox="1"/>
            <p:nvPr/>
          </p:nvSpPr>
          <p:spPr>
            <a:xfrm>
              <a:off x="0" y="66675"/>
              <a:ext cx="20116076" cy="2834208"/>
            </a:xfrm>
            <a:prstGeom prst="rect">
              <a:avLst/>
            </a:prstGeom>
          </p:spPr>
          <p:txBody>
            <a:bodyPr lIns="0" tIns="0" rIns="0" bIns="0" rtlCol="0" anchor="b"/>
            <a:lstStyle/>
            <a:p>
              <a:pPr algn="l">
                <a:lnSpc>
                  <a:spcPts val="7614"/>
                </a:lnSpc>
              </a:pPr>
              <a:r>
                <a:rPr lang="en-US" sz="7050" spc="-22">
                  <a:solidFill>
                    <a:srgbClr val="404040"/>
                  </a:solidFill>
                  <a:latin typeface="TT Phobos"/>
                  <a:ea typeface="TT Phobos"/>
                  <a:cs typeface="TT Phobos"/>
                  <a:sym typeface="TT Phobos"/>
                </a:rPr>
                <a:t>Commercialization strategies</a:t>
              </a:r>
            </a:p>
          </p:txBody>
        </p:sp>
      </p:grpSp>
      <p:sp>
        <p:nvSpPr>
          <p:cNvPr id="8" name="TextBox 8"/>
          <p:cNvSpPr txBox="1"/>
          <p:nvPr/>
        </p:nvSpPr>
        <p:spPr>
          <a:xfrm>
            <a:off x="1645920" y="3160185"/>
            <a:ext cx="15087057" cy="5597176"/>
          </a:xfrm>
          <a:prstGeom prst="rect">
            <a:avLst/>
          </a:prstGeom>
        </p:spPr>
        <p:txBody>
          <a:bodyPr lIns="0" tIns="0" rIns="0" bIns="0" rtlCol="0" anchor="t">
            <a:spAutoFit/>
          </a:bodyPr>
          <a:lstStyle/>
          <a:p>
            <a:pPr algn="l">
              <a:lnSpc>
                <a:spcPts val="3419"/>
              </a:lnSpc>
            </a:pPr>
            <a:r>
              <a:rPr lang="en-US" sz="2850" spc="-1">
                <a:solidFill>
                  <a:srgbClr val="404040"/>
                </a:solidFill>
                <a:latin typeface="ITC Franklin Gothic LT"/>
                <a:ea typeface="ITC Franklin Gothic LT"/>
                <a:cs typeface="ITC Franklin Gothic LT"/>
                <a:sym typeface="ITC Franklin Gothic LT"/>
              </a:rPr>
              <a:t>The app will generate revenue by licensing the platform to government departments and municipalities through subscription or service fees, offering a SaaS model where municipalities pay monthly or annual fees based on usage and features, while citizens can access basic features for free with the option to pay for premium features such as priority alerts and advanced predictions</a:t>
            </a:r>
          </a:p>
        </p:txBody>
      </p:sp>
      <p:sp>
        <p:nvSpPr>
          <p:cNvPr id="9" name="TextBox 9"/>
          <p:cNvSpPr txBox="1"/>
          <p:nvPr/>
        </p:nvSpPr>
        <p:spPr>
          <a:xfrm>
            <a:off x="1980000" y="4075948"/>
            <a:ext cx="14662976" cy="2291553"/>
          </a:xfrm>
          <a:prstGeom prst="rect">
            <a:avLst/>
          </a:prstGeom>
        </p:spPr>
        <p:txBody>
          <a:bodyPr lIns="0" tIns="0" rIns="0" bIns="0" rtlCol="0" anchor="t">
            <a:spAutoFit/>
          </a:bodyPr>
          <a:lstStyle/>
          <a:p>
            <a:pPr algn="l">
              <a:lnSpc>
                <a:spcPts val="3240"/>
              </a:lnSpc>
            </a:pPr>
            <a:r>
              <a:rPr lang="en-US" sz="2700" spc="-1">
                <a:solidFill>
                  <a:srgbClr val="000000"/>
                </a:solidFill>
                <a:latin typeface="Arial"/>
                <a:ea typeface="Arial"/>
                <a:cs typeface="Arial"/>
                <a:sym typeface="Arial"/>
              </a:rPr>
              <a:t>.</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58" y="9601200"/>
            <a:ext cx="18282780" cy="685257"/>
            <a:chOff x="0" y="0"/>
            <a:chExt cx="24377040" cy="913676"/>
          </a:xfrm>
        </p:grpSpPr>
        <p:sp>
          <p:nvSpPr>
            <p:cNvPr id="3" name="Freeform 3"/>
            <p:cNvSpPr/>
            <p:nvPr/>
          </p:nvSpPr>
          <p:spPr>
            <a:xfrm>
              <a:off x="0" y="0"/>
              <a:ext cx="24377014" cy="913638"/>
            </a:xfrm>
            <a:custGeom>
              <a:avLst/>
              <a:gdLst/>
              <a:ahLst/>
              <a:cxnLst/>
              <a:rect l="l" t="t" r="r" b="b"/>
              <a:pathLst>
                <a:path w="24377014" h="913638">
                  <a:moveTo>
                    <a:pt x="0" y="0"/>
                  </a:moveTo>
                  <a:lnTo>
                    <a:pt x="24377014" y="0"/>
                  </a:lnTo>
                  <a:lnTo>
                    <a:pt x="24377014" y="913638"/>
                  </a:lnTo>
                  <a:lnTo>
                    <a:pt x="0" y="913638"/>
                  </a:lnTo>
                  <a:close/>
                </a:path>
              </a:pathLst>
            </a:custGeom>
            <a:solidFill>
              <a:srgbClr val="262626"/>
            </a:solidFill>
          </p:spPr>
          <p:txBody>
            <a:bodyPr/>
            <a:lstStyle/>
            <a:p>
              <a:endParaRPr lang="en-US"/>
            </a:p>
          </p:txBody>
        </p:sp>
      </p:grpSp>
      <p:sp>
        <p:nvSpPr>
          <p:cNvPr id="4" name="AutoShape 4"/>
          <p:cNvSpPr/>
          <p:nvPr/>
        </p:nvSpPr>
        <p:spPr>
          <a:xfrm rot="120">
            <a:off x="1790100" y="2841308"/>
            <a:ext cx="14950983" cy="0"/>
          </a:xfrm>
          <a:prstGeom prst="line">
            <a:avLst/>
          </a:prstGeom>
          <a:ln w="9525" cap="rnd">
            <a:solidFill>
              <a:srgbClr val="000000"/>
            </a:solidFill>
            <a:prstDash val="solid"/>
            <a:headEnd type="none" w="sm" len="sm"/>
            <a:tailEnd type="none" w="sm" len="sm"/>
          </a:ln>
        </p:spPr>
        <p:txBody>
          <a:bodyPr/>
          <a:lstStyle/>
          <a:p>
            <a:endParaRPr lang="en-US"/>
          </a:p>
        </p:txBody>
      </p:sp>
      <p:grpSp>
        <p:nvGrpSpPr>
          <p:cNvPr id="5" name="Group 5"/>
          <p:cNvGrpSpPr/>
          <p:nvPr/>
        </p:nvGrpSpPr>
        <p:grpSpPr>
          <a:xfrm>
            <a:off x="1645920" y="429844"/>
            <a:ext cx="15087057" cy="2175662"/>
            <a:chOff x="0" y="0"/>
            <a:chExt cx="20116076" cy="2900883"/>
          </a:xfrm>
        </p:grpSpPr>
        <p:sp>
          <p:nvSpPr>
            <p:cNvPr id="6" name="Freeform 6"/>
            <p:cNvSpPr/>
            <p:nvPr/>
          </p:nvSpPr>
          <p:spPr>
            <a:xfrm>
              <a:off x="0" y="0"/>
              <a:ext cx="20116081" cy="2900880"/>
            </a:xfrm>
            <a:custGeom>
              <a:avLst/>
              <a:gdLst/>
              <a:ahLst/>
              <a:cxnLst/>
              <a:rect l="l" t="t" r="r" b="b"/>
              <a:pathLst>
                <a:path w="20116081" h="2900880">
                  <a:moveTo>
                    <a:pt x="0" y="0"/>
                  </a:moveTo>
                  <a:lnTo>
                    <a:pt x="20116081" y="0"/>
                  </a:lnTo>
                  <a:lnTo>
                    <a:pt x="20116081" y="2900880"/>
                  </a:lnTo>
                  <a:lnTo>
                    <a:pt x="0" y="2900880"/>
                  </a:lnTo>
                  <a:close/>
                </a:path>
              </a:pathLst>
            </a:custGeom>
            <a:blipFill>
              <a:blip r:embed="rId2">
                <a:alphaModFix amt="0"/>
              </a:blip>
              <a:stretch>
                <a:fillRect t="-85118" b="-85118"/>
              </a:stretch>
            </a:blipFill>
          </p:spPr>
          <p:txBody>
            <a:bodyPr/>
            <a:lstStyle/>
            <a:p>
              <a:endParaRPr lang="en-US"/>
            </a:p>
          </p:txBody>
        </p:sp>
        <p:sp>
          <p:nvSpPr>
            <p:cNvPr id="7" name="TextBox 7"/>
            <p:cNvSpPr txBox="1"/>
            <p:nvPr/>
          </p:nvSpPr>
          <p:spPr>
            <a:xfrm>
              <a:off x="0" y="66675"/>
              <a:ext cx="20116076" cy="2834208"/>
            </a:xfrm>
            <a:prstGeom prst="rect">
              <a:avLst/>
            </a:prstGeom>
          </p:spPr>
          <p:txBody>
            <a:bodyPr lIns="0" tIns="0" rIns="0" bIns="0" rtlCol="0" anchor="b"/>
            <a:lstStyle/>
            <a:p>
              <a:pPr algn="l">
                <a:lnSpc>
                  <a:spcPts val="7614"/>
                </a:lnSpc>
              </a:pPr>
              <a:r>
                <a:rPr lang="en-US" sz="7050" spc="-22">
                  <a:solidFill>
                    <a:srgbClr val="404040"/>
                  </a:solidFill>
                  <a:latin typeface="TT Phobos"/>
                  <a:ea typeface="TT Phobos"/>
                  <a:cs typeface="TT Phobos"/>
                  <a:sym typeface="TT Phobos"/>
                </a:rPr>
                <a:t>Competitors </a:t>
              </a:r>
            </a:p>
          </p:txBody>
        </p:sp>
      </p:grpSp>
      <p:sp>
        <p:nvSpPr>
          <p:cNvPr id="8" name="TextBox 8"/>
          <p:cNvSpPr txBox="1"/>
          <p:nvPr/>
        </p:nvSpPr>
        <p:spPr>
          <a:xfrm>
            <a:off x="1654026" y="3112770"/>
            <a:ext cx="15087057" cy="2030730"/>
          </a:xfrm>
          <a:prstGeom prst="rect">
            <a:avLst/>
          </a:prstGeom>
        </p:spPr>
        <p:txBody>
          <a:bodyPr lIns="0" tIns="0" rIns="0" bIns="0" rtlCol="0" anchor="t">
            <a:spAutoFit/>
          </a:bodyPr>
          <a:lstStyle/>
          <a:p>
            <a:pPr algn="l">
              <a:lnSpc>
                <a:spcPts val="3960"/>
              </a:lnSpc>
            </a:pPr>
            <a:r>
              <a:rPr lang="en-US" sz="3000">
                <a:solidFill>
                  <a:srgbClr val="404040"/>
                </a:solidFill>
                <a:latin typeface="ITC Franklin Gothic LT"/>
                <a:ea typeface="ITC Franklin Gothic LT"/>
                <a:cs typeface="ITC Franklin Gothic LT"/>
                <a:sym typeface="ITC Franklin Gothic LT"/>
              </a:rPr>
              <a:t>Existing platforms like Snap Send Solve and SeeClickFix allow users to report municipal issues and track progress.</a:t>
            </a:r>
          </a:p>
          <a:p>
            <a:pPr algn="l">
              <a:lnSpc>
                <a:spcPts val="3960"/>
              </a:lnSpc>
            </a:pPr>
            <a:r>
              <a:rPr lang="en-US" sz="3000" spc="-1">
                <a:solidFill>
                  <a:srgbClr val="404040"/>
                </a:solidFill>
                <a:latin typeface="ITC Franklin Gothic LT"/>
                <a:ea typeface="ITC Franklin Gothic LT"/>
                <a:cs typeface="ITC Franklin Gothic LT"/>
                <a:sym typeface="ITC Franklin Gothic LT"/>
              </a:rPr>
              <a:t> However, they mainly focus on reporting and lack advanced AI features, queue prediction, and full service integration.</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58" y="9601200"/>
            <a:ext cx="18282780" cy="685257"/>
            <a:chOff x="0" y="0"/>
            <a:chExt cx="24377040" cy="913676"/>
          </a:xfrm>
        </p:grpSpPr>
        <p:sp>
          <p:nvSpPr>
            <p:cNvPr id="3" name="Freeform 3"/>
            <p:cNvSpPr/>
            <p:nvPr/>
          </p:nvSpPr>
          <p:spPr>
            <a:xfrm>
              <a:off x="0" y="0"/>
              <a:ext cx="24377014" cy="913638"/>
            </a:xfrm>
            <a:custGeom>
              <a:avLst/>
              <a:gdLst/>
              <a:ahLst/>
              <a:cxnLst/>
              <a:rect l="l" t="t" r="r" b="b"/>
              <a:pathLst>
                <a:path w="24377014" h="913638">
                  <a:moveTo>
                    <a:pt x="0" y="0"/>
                  </a:moveTo>
                  <a:lnTo>
                    <a:pt x="24377014" y="0"/>
                  </a:lnTo>
                  <a:lnTo>
                    <a:pt x="24377014" y="913638"/>
                  </a:lnTo>
                  <a:lnTo>
                    <a:pt x="0" y="913638"/>
                  </a:lnTo>
                  <a:close/>
                </a:path>
              </a:pathLst>
            </a:custGeom>
            <a:solidFill>
              <a:srgbClr val="262626"/>
            </a:solidFill>
          </p:spPr>
          <p:txBody>
            <a:bodyPr/>
            <a:lstStyle/>
            <a:p>
              <a:endParaRPr lang="en-US"/>
            </a:p>
          </p:txBody>
        </p:sp>
      </p:grpSp>
      <p:sp>
        <p:nvSpPr>
          <p:cNvPr id="4" name="AutoShape 4"/>
          <p:cNvSpPr/>
          <p:nvPr/>
        </p:nvSpPr>
        <p:spPr>
          <a:xfrm rot="120">
            <a:off x="1790100" y="2841308"/>
            <a:ext cx="14950983" cy="0"/>
          </a:xfrm>
          <a:prstGeom prst="line">
            <a:avLst/>
          </a:prstGeom>
          <a:ln w="9525" cap="rnd">
            <a:solidFill>
              <a:srgbClr val="000000"/>
            </a:solidFill>
            <a:prstDash val="solid"/>
            <a:headEnd type="none" w="sm" len="sm"/>
            <a:tailEnd type="none" w="sm" len="sm"/>
          </a:ln>
        </p:spPr>
        <p:txBody>
          <a:bodyPr/>
          <a:lstStyle/>
          <a:p>
            <a:endParaRPr lang="en-US"/>
          </a:p>
        </p:txBody>
      </p:sp>
      <p:grpSp>
        <p:nvGrpSpPr>
          <p:cNvPr id="5" name="Group 5"/>
          <p:cNvGrpSpPr/>
          <p:nvPr/>
        </p:nvGrpSpPr>
        <p:grpSpPr>
          <a:xfrm>
            <a:off x="1645920" y="429844"/>
            <a:ext cx="15087057" cy="2175662"/>
            <a:chOff x="0" y="0"/>
            <a:chExt cx="20116076" cy="2900883"/>
          </a:xfrm>
        </p:grpSpPr>
        <p:sp>
          <p:nvSpPr>
            <p:cNvPr id="6" name="Freeform 6"/>
            <p:cNvSpPr/>
            <p:nvPr/>
          </p:nvSpPr>
          <p:spPr>
            <a:xfrm>
              <a:off x="0" y="0"/>
              <a:ext cx="20116081" cy="2900880"/>
            </a:xfrm>
            <a:custGeom>
              <a:avLst/>
              <a:gdLst/>
              <a:ahLst/>
              <a:cxnLst/>
              <a:rect l="l" t="t" r="r" b="b"/>
              <a:pathLst>
                <a:path w="20116081" h="2900880">
                  <a:moveTo>
                    <a:pt x="0" y="0"/>
                  </a:moveTo>
                  <a:lnTo>
                    <a:pt x="20116081" y="0"/>
                  </a:lnTo>
                  <a:lnTo>
                    <a:pt x="20116081" y="2900880"/>
                  </a:lnTo>
                  <a:lnTo>
                    <a:pt x="0" y="2900880"/>
                  </a:lnTo>
                  <a:close/>
                </a:path>
              </a:pathLst>
            </a:custGeom>
            <a:blipFill>
              <a:blip r:embed="rId2">
                <a:alphaModFix amt="0"/>
              </a:blip>
              <a:stretch>
                <a:fillRect t="-85118" b="-85118"/>
              </a:stretch>
            </a:blipFill>
          </p:spPr>
          <p:txBody>
            <a:bodyPr/>
            <a:lstStyle/>
            <a:p>
              <a:endParaRPr lang="en-US"/>
            </a:p>
          </p:txBody>
        </p:sp>
        <p:sp>
          <p:nvSpPr>
            <p:cNvPr id="7" name="TextBox 7"/>
            <p:cNvSpPr txBox="1"/>
            <p:nvPr/>
          </p:nvSpPr>
          <p:spPr>
            <a:xfrm>
              <a:off x="0" y="76200"/>
              <a:ext cx="20116076" cy="2824683"/>
            </a:xfrm>
            <a:prstGeom prst="rect">
              <a:avLst/>
            </a:prstGeom>
          </p:spPr>
          <p:txBody>
            <a:bodyPr lIns="0" tIns="0" rIns="0" bIns="0" rtlCol="0" anchor="b"/>
            <a:lstStyle/>
            <a:p>
              <a:pPr algn="l">
                <a:lnSpc>
                  <a:spcPts val="7128"/>
                </a:lnSpc>
              </a:pPr>
              <a:r>
                <a:rPr lang="en-US" sz="6600" spc="-25">
                  <a:solidFill>
                    <a:srgbClr val="404040"/>
                  </a:solidFill>
                  <a:latin typeface="TT Phobos"/>
                  <a:ea typeface="TT Phobos"/>
                  <a:cs typeface="TT Phobos"/>
                  <a:sym typeface="TT Phobos"/>
                </a:rPr>
                <a:t>Uniqueness(Competitive Advantage)</a:t>
              </a:r>
            </a:p>
          </p:txBody>
        </p:sp>
      </p:grpSp>
      <p:sp>
        <p:nvSpPr>
          <p:cNvPr id="8" name="TextBox 8"/>
          <p:cNvSpPr txBox="1"/>
          <p:nvPr/>
        </p:nvSpPr>
        <p:spPr>
          <a:xfrm>
            <a:off x="1645920" y="3131610"/>
            <a:ext cx="15087057" cy="1956816"/>
          </a:xfrm>
          <a:prstGeom prst="rect">
            <a:avLst/>
          </a:prstGeom>
        </p:spPr>
        <p:txBody>
          <a:bodyPr lIns="0" tIns="0" rIns="0" bIns="0" rtlCol="0" anchor="t">
            <a:spAutoFit/>
          </a:bodyPr>
          <a:lstStyle/>
          <a:p>
            <a:pPr algn="l">
              <a:lnSpc>
                <a:spcPts val="3762"/>
              </a:lnSpc>
            </a:pPr>
            <a:r>
              <a:rPr lang="en-US" sz="2850">
                <a:solidFill>
                  <a:srgbClr val="404040"/>
                </a:solidFill>
                <a:latin typeface="ITC Franklin Gothic LT"/>
                <a:ea typeface="ITC Franklin Gothic LT"/>
                <a:cs typeface="ITC Franklin Gothic LT"/>
                <a:sym typeface="ITC Franklin Gothic LT"/>
              </a:rPr>
              <a:t>The GovSync Platform is an all-in-one solution that combines issue reporting, AI automation, queue prediction, and real-time updates in a single system.</a:t>
            </a:r>
          </a:p>
          <a:p>
            <a:pPr algn="l">
              <a:lnSpc>
                <a:spcPts val="3762"/>
              </a:lnSpc>
            </a:pPr>
            <a:r>
              <a:rPr lang="en-US" sz="2850" spc="-1">
                <a:solidFill>
                  <a:srgbClr val="404040"/>
                </a:solidFill>
                <a:latin typeface="ITC Franklin Gothic LT"/>
                <a:ea typeface="ITC Franklin Gothic LT"/>
                <a:cs typeface="ITC Franklin Gothic LT"/>
                <a:sym typeface="ITC Franklin Gothic LT"/>
              </a:rPr>
              <a:t> Unlike competitors, it uses AI to classify, prioritize, and route issues automatically while also helping users avoid long queues at services like the Department of Home Affairs.</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58" y="9601200"/>
            <a:ext cx="18282780" cy="685257"/>
            <a:chOff x="0" y="0"/>
            <a:chExt cx="24377040" cy="913676"/>
          </a:xfrm>
        </p:grpSpPr>
        <p:sp>
          <p:nvSpPr>
            <p:cNvPr id="3" name="Freeform 3"/>
            <p:cNvSpPr/>
            <p:nvPr/>
          </p:nvSpPr>
          <p:spPr>
            <a:xfrm>
              <a:off x="0" y="0"/>
              <a:ext cx="24377014" cy="913638"/>
            </a:xfrm>
            <a:custGeom>
              <a:avLst/>
              <a:gdLst/>
              <a:ahLst/>
              <a:cxnLst/>
              <a:rect l="l" t="t" r="r" b="b"/>
              <a:pathLst>
                <a:path w="24377014" h="913638">
                  <a:moveTo>
                    <a:pt x="0" y="0"/>
                  </a:moveTo>
                  <a:lnTo>
                    <a:pt x="24377014" y="0"/>
                  </a:lnTo>
                  <a:lnTo>
                    <a:pt x="24377014" y="913638"/>
                  </a:lnTo>
                  <a:lnTo>
                    <a:pt x="0" y="913638"/>
                  </a:lnTo>
                  <a:close/>
                </a:path>
              </a:pathLst>
            </a:custGeom>
            <a:solidFill>
              <a:srgbClr val="262626"/>
            </a:solidFill>
          </p:spPr>
          <p:txBody>
            <a:bodyPr/>
            <a:lstStyle/>
            <a:p>
              <a:endParaRPr lang="en-US"/>
            </a:p>
          </p:txBody>
        </p:sp>
      </p:grpSp>
      <p:sp>
        <p:nvSpPr>
          <p:cNvPr id="4" name="AutoShape 4"/>
          <p:cNvSpPr/>
          <p:nvPr/>
        </p:nvSpPr>
        <p:spPr>
          <a:xfrm rot="120">
            <a:off x="1790100" y="2841308"/>
            <a:ext cx="14950983" cy="0"/>
          </a:xfrm>
          <a:prstGeom prst="line">
            <a:avLst/>
          </a:prstGeom>
          <a:ln w="9525" cap="rnd">
            <a:solidFill>
              <a:srgbClr val="000000"/>
            </a:solidFill>
            <a:prstDash val="solid"/>
            <a:headEnd type="none" w="sm" len="sm"/>
            <a:tailEnd type="none" w="sm" len="sm"/>
          </a:ln>
        </p:spPr>
        <p:txBody>
          <a:bodyPr/>
          <a:lstStyle/>
          <a:p>
            <a:endParaRPr lang="en-US"/>
          </a:p>
        </p:txBody>
      </p:sp>
      <p:grpSp>
        <p:nvGrpSpPr>
          <p:cNvPr id="5" name="Group 5"/>
          <p:cNvGrpSpPr/>
          <p:nvPr/>
        </p:nvGrpSpPr>
        <p:grpSpPr>
          <a:xfrm>
            <a:off x="1645920" y="429844"/>
            <a:ext cx="15087057" cy="2175660"/>
            <a:chOff x="0" y="0"/>
            <a:chExt cx="20116076" cy="2900880"/>
          </a:xfrm>
        </p:grpSpPr>
        <p:sp>
          <p:nvSpPr>
            <p:cNvPr id="6" name="Freeform 6"/>
            <p:cNvSpPr/>
            <p:nvPr/>
          </p:nvSpPr>
          <p:spPr>
            <a:xfrm>
              <a:off x="0" y="0"/>
              <a:ext cx="20116081" cy="2900877"/>
            </a:xfrm>
            <a:custGeom>
              <a:avLst/>
              <a:gdLst/>
              <a:ahLst/>
              <a:cxnLst/>
              <a:rect l="l" t="t" r="r" b="b"/>
              <a:pathLst>
                <a:path w="20116081" h="2900877">
                  <a:moveTo>
                    <a:pt x="0" y="0"/>
                  </a:moveTo>
                  <a:lnTo>
                    <a:pt x="20116081" y="0"/>
                  </a:lnTo>
                  <a:lnTo>
                    <a:pt x="20116081" y="2900877"/>
                  </a:lnTo>
                  <a:lnTo>
                    <a:pt x="0" y="2900877"/>
                  </a:lnTo>
                  <a:close/>
                </a:path>
              </a:pathLst>
            </a:custGeom>
            <a:blipFill>
              <a:blip r:embed="rId2">
                <a:alphaModFix amt="0"/>
              </a:blip>
              <a:stretch>
                <a:fillRect t="-85118" b="-85118"/>
              </a:stretch>
            </a:blipFill>
          </p:spPr>
          <p:txBody>
            <a:bodyPr/>
            <a:lstStyle/>
            <a:p>
              <a:endParaRPr lang="en-US"/>
            </a:p>
          </p:txBody>
        </p:sp>
        <p:sp>
          <p:nvSpPr>
            <p:cNvPr id="7" name="TextBox 7"/>
            <p:cNvSpPr txBox="1"/>
            <p:nvPr/>
          </p:nvSpPr>
          <p:spPr>
            <a:xfrm>
              <a:off x="0" y="66675"/>
              <a:ext cx="20116076" cy="2834205"/>
            </a:xfrm>
            <a:prstGeom prst="rect">
              <a:avLst/>
            </a:prstGeom>
          </p:spPr>
          <p:txBody>
            <a:bodyPr lIns="0" tIns="0" rIns="0" bIns="0" rtlCol="0" anchor="b"/>
            <a:lstStyle/>
            <a:p>
              <a:pPr algn="l">
                <a:lnSpc>
                  <a:spcPts val="7614"/>
                </a:lnSpc>
              </a:pPr>
              <a:r>
                <a:rPr lang="en-US" sz="7050" spc="-22">
                  <a:solidFill>
                    <a:srgbClr val="404040"/>
                  </a:solidFill>
                  <a:latin typeface="TT Phobos"/>
                  <a:ea typeface="TT Phobos"/>
                  <a:cs typeface="TT Phobos"/>
                  <a:sym typeface="TT Phobos"/>
                </a:rPr>
                <a:t>Target Market</a:t>
              </a:r>
            </a:p>
          </p:txBody>
        </p:sp>
      </p:grpSp>
      <p:sp>
        <p:nvSpPr>
          <p:cNvPr id="8" name="TextBox 8"/>
          <p:cNvSpPr txBox="1"/>
          <p:nvPr/>
        </p:nvSpPr>
        <p:spPr>
          <a:xfrm>
            <a:off x="1283116" y="3041593"/>
            <a:ext cx="14042273" cy="1994535"/>
          </a:xfrm>
          <a:prstGeom prst="rect">
            <a:avLst/>
          </a:prstGeom>
        </p:spPr>
        <p:txBody>
          <a:bodyPr lIns="0" tIns="0" rIns="0" bIns="0" rtlCol="0" anchor="t">
            <a:spAutoFit/>
          </a:bodyPr>
          <a:lstStyle/>
          <a:p>
            <a:pPr algn="ctr">
              <a:lnSpc>
                <a:spcPts val="3990"/>
              </a:lnSpc>
            </a:pPr>
            <a:r>
              <a:rPr lang="en-US" sz="2850">
                <a:solidFill>
                  <a:srgbClr val="000000"/>
                </a:solidFill>
                <a:latin typeface="Canva Sans"/>
                <a:ea typeface="Canva Sans"/>
                <a:cs typeface="Canva Sans"/>
                <a:sym typeface="Canva Sans"/>
              </a:rPr>
              <a:t>The primary target market includes South African citizens who rely on public services and municipalities responsible for service delivery.</a:t>
            </a:r>
          </a:p>
          <a:p>
            <a:pPr algn="ctr">
              <a:lnSpc>
                <a:spcPts val="3990"/>
              </a:lnSpc>
            </a:pPr>
            <a:r>
              <a:rPr lang="en-US" sz="2850">
                <a:solidFill>
                  <a:srgbClr val="000000"/>
                </a:solidFill>
                <a:latin typeface="Canva Sans"/>
                <a:ea typeface="Canva Sans"/>
                <a:cs typeface="Canva Sans"/>
                <a:sym typeface="Canva Sans"/>
              </a:rPr>
              <a:t> Secondary users include government departments and local municipalities seeking to improve efficiency, transparency, and citizen engagement.</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7314118">
            <a:off x="-2046524" y="3776605"/>
            <a:ext cx="7730547" cy="8766599"/>
          </a:xfrm>
          <a:custGeom>
            <a:avLst/>
            <a:gdLst/>
            <a:ahLst/>
            <a:cxnLst/>
            <a:rect l="l" t="t" r="r" b="b"/>
            <a:pathLst>
              <a:path w="7730547" h="8766599">
                <a:moveTo>
                  <a:pt x="0" y="0"/>
                </a:moveTo>
                <a:lnTo>
                  <a:pt x="7730547" y="0"/>
                </a:lnTo>
                <a:lnTo>
                  <a:pt x="7730547" y="8766600"/>
                </a:lnTo>
                <a:lnTo>
                  <a:pt x="0" y="8766600"/>
                </a:lnTo>
                <a:lnTo>
                  <a:pt x="0" y="0"/>
                </a:lnTo>
                <a:close/>
              </a:path>
            </a:pathLst>
          </a:custGeom>
          <a:blipFill>
            <a:blip r:embed="rId2">
              <a:alphaModFix amt="6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5262638">
            <a:off x="-2056903" y="5761004"/>
            <a:ext cx="7431557" cy="7772988"/>
          </a:xfrm>
          <a:custGeom>
            <a:avLst/>
            <a:gdLst/>
            <a:ahLst/>
            <a:cxnLst/>
            <a:rect l="l" t="t" r="r" b="b"/>
            <a:pathLst>
              <a:path w="7431557" h="7772988">
                <a:moveTo>
                  <a:pt x="0" y="0"/>
                </a:moveTo>
                <a:lnTo>
                  <a:pt x="7431557" y="0"/>
                </a:lnTo>
                <a:lnTo>
                  <a:pt x="7431557" y="7772988"/>
                </a:lnTo>
                <a:lnTo>
                  <a:pt x="0" y="77729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TextBox 4"/>
          <p:cNvSpPr txBox="1"/>
          <p:nvPr/>
        </p:nvSpPr>
        <p:spPr>
          <a:xfrm>
            <a:off x="1028700" y="1935279"/>
            <a:ext cx="11975624" cy="6054991"/>
          </a:xfrm>
          <a:prstGeom prst="rect">
            <a:avLst/>
          </a:prstGeom>
        </p:spPr>
        <p:txBody>
          <a:bodyPr lIns="0" tIns="0" rIns="0" bIns="0" rtlCol="0" anchor="t">
            <a:spAutoFit/>
          </a:bodyPr>
          <a:lstStyle/>
          <a:p>
            <a:pPr marL="0" lvl="0" indent="0" algn="l">
              <a:lnSpc>
                <a:spcPts val="22881"/>
              </a:lnSpc>
            </a:pPr>
            <a:r>
              <a:rPr lang="en-US" sz="25423" b="1" spc="-330" dirty="0">
                <a:solidFill>
                  <a:srgbClr val="521221"/>
                </a:solidFill>
                <a:latin typeface="Bricolage Grotesque Bold"/>
                <a:ea typeface="Bricolage Grotesque Bold"/>
                <a:cs typeface="Bricolage Grotesque Bold"/>
                <a:sym typeface="Bricolage Grotesque Bold"/>
              </a:rPr>
              <a:t>Thank You</a:t>
            </a:r>
          </a:p>
        </p:txBody>
      </p:sp>
      <p:sp>
        <p:nvSpPr>
          <p:cNvPr id="5" name="TextBox 5"/>
          <p:cNvSpPr txBox="1"/>
          <p:nvPr/>
        </p:nvSpPr>
        <p:spPr>
          <a:xfrm>
            <a:off x="1196133" y="9407421"/>
            <a:ext cx="3391282" cy="385751"/>
          </a:xfrm>
          <a:prstGeom prst="rect">
            <a:avLst/>
          </a:prstGeom>
        </p:spPr>
        <p:txBody>
          <a:bodyPr lIns="0" tIns="0" rIns="0" bIns="0" rtlCol="0" anchor="t">
            <a:spAutoFit/>
          </a:bodyPr>
          <a:lstStyle/>
          <a:p>
            <a:pPr marL="0" lvl="0" indent="0" algn="just">
              <a:lnSpc>
                <a:spcPts val="2812"/>
              </a:lnSpc>
              <a:spcBef>
                <a:spcPct val="0"/>
              </a:spcBef>
            </a:pPr>
            <a:r>
              <a:rPr lang="en-US" sz="3124">
                <a:solidFill>
                  <a:srgbClr val="521221"/>
                </a:solidFill>
                <a:latin typeface="Aileron"/>
                <a:ea typeface="Aileron"/>
                <a:cs typeface="Aileron"/>
                <a:sym typeface="Aileron"/>
              </a:rPr>
              <a:t>Presented by :</a:t>
            </a:r>
          </a:p>
        </p:txBody>
      </p:sp>
      <p:sp>
        <p:nvSpPr>
          <p:cNvPr id="6" name="TextBox 6"/>
          <p:cNvSpPr txBox="1"/>
          <p:nvPr/>
        </p:nvSpPr>
        <p:spPr>
          <a:xfrm>
            <a:off x="3966760" y="9435033"/>
            <a:ext cx="4197127" cy="358139"/>
          </a:xfrm>
          <a:prstGeom prst="rect">
            <a:avLst/>
          </a:prstGeom>
        </p:spPr>
        <p:txBody>
          <a:bodyPr lIns="0" tIns="0" rIns="0" bIns="0" rtlCol="0" anchor="t">
            <a:spAutoFit/>
          </a:bodyPr>
          <a:lstStyle/>
          <a:p>
            <a:pPr marL="0" lvl="0" indent="0" algn="just">
              <a:lnSpc>
                <a:spcPts val="2609"/>
              </a:lnSpc>
              <a:spcBef>
                <a:spcPct val="0"/>
              </a:spcBef>
            </a:pPr>
            <a:r>
              <a:rPr lang="en-US" sz="2899" b="1" i="1">
                <a:solidFill>
                  <a:srgbClr val="521221"/>
                </a:solidFill>
                <a:latin typeface="Aileron Bold Italics"/>
                <a:ea typeface="Aileron Bold Italics"/>
                <a:cs typeface="Aileron Bold Italics"/>
                <a:sym typeface="Aileron Bold Italics"/>
              </a:rPr>
              <a:t>Group 14 (GovSync)</a:t>
            </a:r>
          </a:p>
        </p:txBody>
      </p:sp>
      <p:grpSp>
        <p:nvGrpSpPr>
          <p:cNvPr id="7" name="Group 7"/>
          <p:cNvGrpSpPr/>
          <p:nvPr/>
        </p:nvGrpSpPr>
        <p:grpSpPr>
          <a:xfrm>
            <a:off x="1028700" y="7504007"/>
            <a:ext cx="15796701" cy="1311797"/>
            <a:chOff x="0" y="0"/>
            <a:chExt cx="4160448" cy="345494"/>
          </a:xfrm>
        </p:grpSpPr>
        <p:sp>
          <p:nvSpPr>
            <p:cNvPr id="8" name="Freeform 8"/>
            <p:cNvSpPr/>
            <p:nvPr/>
          </p:nvSpPr>
          <p:spPr>
            <a:xfrm>
              <a:off x="0" y="0"/>
              <a:ext cx="4160448" cy="345494"/>
            </a:xfrm>
            <a:custGeom>
              <a:avLst/>
              <a:gdLst/>
              <a:ahLst/>
              <a:cxnLst/>
              <a:rect l="l" t="t" r="r" b="b"/>
              <a:pathLst>
                <a:path w="4160448" h="345494">
                  <a:moveTo>
                    <a:pt x="14703" y="0"/>
                  </a:moveTo>
                  <a:lnTo>
                    <a:pt x="4145745" y="0"/>
                  </a:lnTo>
                  <a:cubicBezTo>
                    <a:pt x="4149644" y="0"/>
                    <a:pt x="4153384" y="1549"/>
                    <a:pt x="4156142" y="4306"/>
                  </a:cubicBezTo>
                  <a:cubicBezTo>
                    <a:pt x="4158899" y="7064"/>
                    <a:pt x="4160448" y="10803"/>
                    <a:pt x="4160448" y="14703"/>
                  </a:cubicBezTo>
                  <a:lnTo>
                    <a:pt x="4160448" y="330791"/>
                  </a:lnTo>
                  <a:cubicBezTo>
                    <a:pt x="4160448" y="334690"/>
                    <a:pt x="4158899" y="338430"/>
                    <a:pt x="4156142" y="341187"/>
                  </a:cubicBezTo>
                  <a:cubicBezTo>
                    <a:pt x="4153384" y="343945"/>
                    <a:pt x="4149644" y="345494"/>
                    <a:pt x="4145745" y="345494"/>
                  </a:cubicBezTo>
                  <a:lnTo>
                    <a:pt x="14703" y="345494"/>
                  </a:lnTo>
                  <a:cubicBezTo>
                    <a:pt x="10803" y="345494"/>
                    <a:pt x="7064" y="343945"/>
                    <a:pt x="4306" y="341187"/>
                  </a:cubicBezTo>
                  <a:cubicBezTo>
                    <a:pt x="1549" y="338430"/>
                    <a:pt x="0" y="334690"/>
                    <a:pt x="0" y="330791"/>
                  </a:cubicBezTo>
                  <a:lnTo>
                    <a:pt x="0" y="14703"/>
                  </a:lnTo>
                  <a:cubicBezTo>
                    <a:pt x="0" y="10803"/>
                    <a:pt x="1549" y="7064"/>
                    <a:pt x="4306" y="4306"/>
                  </a:cubicBezTo>
                  <a:cubicBezTo>
                    <a:pt x="7064" y="1549"/>
                    <a:pt x="10803" y="0"/>
                    <a:pt x="14703"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txBody>
            <a:bodyPr/>
            <a:lstStyle/>
            <a:p>
              <a:endParaRPr lang="en-US"/>
            </a:p>
          </p:txBody>
        </p:sp>
        <p:sp>
          <p:nvSpPr>
            <p:cNvPr id="9" name="TextBox 9"/>
            <p:cNvSpPr txBox="1"/>
            <p:nvPr/>
          </p:nvSpPr>
          <p:spPr>
            <a:xfrm>
              <a:off x="0" y="-38100"/>
              <a:ext cx="4160448" cy="38359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1028700" y="226247"/>
            <a:ext cx="2154931" cy="1269740"/>
          </a:xfrm>
          <a:custGeom>
            <a:avLst/>
            <a:gdLst/>
            <a:ahLst/>
            <a:cxnLst/>
            <a:rect l="l" t="t" r="r" b="b"/>
            <a:pathLst>
              <a:path w="2154931" h="1269740">
                <a:moveTo>
                  <a:pt x="0" y="0"/>
                </a:moveTo>
                <a:lnTo>
                  <a:pt x="2154931" y="0"/>
                </a:lnTo>
                <a:lnTo>
                  <a:pt x="2154931" y="1269740"/>
                </a:lnTo>
                <a:lnTo>
                  <a:pt x="0" y="126974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TextBox 11"/>
          <p:cNvSpPr txBox="1"/>
          <p:nvPr/>
        </p:nvSpPr>
        <p:spPr>
          <a:xfrm>
            <a:off x="2579142" y="223042"/>
            <a:ext cx="3486182" cy="483512"/>
          </a:xfrm>
          <a:prstGeom prst="rect">
            <a:avLst/>
          </a:prstGeom>
        </p:spPr>
        <p:txBody>
          <a:bodyPr lIns="0" tIns="0" rIns="0" bIns="0" rtlCol="0" anchor="t">
            <a:spAutoFit/>
          </a:bodyPr>
          <a:lstStyle/>
          <a:p>
            <a:pPr marL="0" lvl="0" indent="0" algn="ctr">
              <a:lnSpc>
                <a:spcPts val="3957"/>
              </a:lnSpc>
              <a:spcBef>
                <a:spcPct val="0"/>
              </a:spcBef>
            </a:pPr>
            <a:r>
              <a:rPr lang="en-US" sz="2826" b="1" spc="28">
                <a:solidFill>
                  <a:srgbClr val="000000"/>
                </a:solidFill>
                <a:latin typeface="Glacial Indifference Bold"/>
                <a:ea typeface="Glacial Indifference Bold"/>
                <a:cs typeface="Glacial Indifference Bold"/>
                <a:sym typeface="Glacial Indifference Bold"/>
              </a:rPr>
              <a:t>GOVSYNC</a:t>
            </a:r>
          </a:p>
        </p:txBody>
      </p:sp>
      <p:sp>
        <p:nvSpPr>
          <p:cNvPr id="12" name="TextBox 12"/>
          <p:cNvSpPr txBox="1"/>
          <p:nvPr/>
        </p:nvSpPr>
        <p:spPr>
          <a:xfrm>
            <a:off x="2871515" y="731218"/>
            <a:ext cx="3431800" cy="480161"/>
          </a:xfrm>
          <a:prstGeom prst="rect">
            <a:avLst/>
          </a:prstGeom>
        </p:spPr>
        <p:txBody>
          <a:bodyPr lIns="0" tIns="0" rIns="0" bIns="0" rtlCol="0" anchor="t">
            <a:spAutoFit/>
          </a:bodyPr>
          <a:lstStyle/>
          <a:p>
            <a:pPr algn="ctr">
              <a:lnSpc>
                <a:spcPts val="1884"/>
              </a:lnSpc>
              <a:spcBef>
                <a:spcPct val="0"/>
              </a:spcBef>
            </a:pPr>
            <a:r>
              <a:rPr lang="en-US" sz="1346" b="1" i="1" spc="336">
                <a:solidFill>
                  <a:srgbClr val="521221"/>
                </a:solidFill>
                <a:latin typeface="Poppins Bold Italics"/>
                <a:ea typeface="Poppins Bold Italics"/>
                <a:cs typeface="Poppins Bold Italics"/>
                <a:sym typeface="Poppins Bold Italics"/>
              </a:rPr>
              <a:t>WHERE CITIZENS AND GOVERNMENT SYNC.</a:t>
            </a:r>
          </a:p>
        </p:txBody>
      </p:sp>
      <p:sp>
        <p:nvSpPr>
          <p:cNvPr id="13" name="Freeform 13"/>
          <p:cNvSpPr/>
          <p:nvPr/>
        </p:nvSpPr>
        <p:spPr>
          <a:xfrm>
            <a:off x="2279006" y="7592061"/>
            <a:ext cx="1185018" cy="1185018"/>
          </a:xfrm>
          <a:custGeom>
            <a:avLst/>
            <a:gdLst/>
            <a:ahLst/>
            <a:cxnLst/>
            <a:rect l="l" t="t" r="r" b="b"/>
            <a:pathLst>
              <a:path w="1185018" h="1185018">
                <a:moveTo>
                  <a:pt x="0" y="0"/>
                </a:moveTo>
                <a:lnTo>
                  <a:pt x="1185018" y="0"/>
                </a:lnTo>
                <a:lnTo>
                  <a:pt x="1185018" y="1185018"/>
                </a:lnTo>
                <a:lnTo>
                  <a:pt x="0" y="1185018"/>
                </a:lnTo>
                <a:lnTo>
                  <a:pt x="0" y="0"/>
                </a:lnTo>
                <a:close/>
              </a:path>
            </a:pathLst>
          </a:custGeom>
          <a:blipFill>
            <a:blip r:embed="rId8"/>
            <a:stretch>
              <a:fillRect/>
            </a:stretch>
          </a:blipFill>
        </p:spPr>
        <p:txBody>
          <a:bodyPr/>
          <a:lstStyle/>
          <a:p>
            <a:endParaRPr lang="en-US"/>
          </a:p>
        </p:txBody>
      </p:sp>
      <p:sp>
        <p:nvSpPr>
          <p:cNvPr id="14" name="Freeform 14"/>
          <p:cNvSpPr/>
          <p:nvPr/>
        </p:nvSpPr>
        <p:spPr>
          <a:xfrm>
            <a:off x="5608954" y="7643539"/>
            <a:ext cx="2554933" cy="1082061"/>
          </a:xfrm>
          <a:custGeom>
            <a:avLst/>
            <a:gdLst/>
            <a:ahLst/>
            <a:cxnLst/>
            <a:rect l="l" t="t" r="r" b="b"/>
            <a:pathLst>
              <a:path w="2554933" h="1082061">
                <a:moveTo>
                  <a:pt x="0" y="0"/>
                </a:moveTo>
                <a:lnTo>
                  <a:pt x="2554933" y="0"/>
                </a:lnTo>
                <a:lnTo>
                  <a:pt x="2554933" y="1082062"/>
                </a:lnTo>
                <a:lnTo>
                  <a:pt x="0" y="1082062"/>
                </a:lnTo>
                <a:lnTo>
                  <a:pt x="0" y="0"/>
                </a:lnTo>
                <a:close/>
              </a:path>
            </a:pathLst>
          </a:custGeom>
          <a:blipFill>
            <a:blip r:embed="rId9"/>
            <a:stretch>
              <a:fillRect t="-13604" b="-13604"/>
            </a:stretch>
          </a:blipFill>
        </p:spPr>
        <p:txBody>
          <a:bodyPr/>
          <a:lstStyle/>
          <a:p>
            <a:endParaRPr lang="en-US"/>
          </a:p>
        </p:txBody>
      </p:sp>
      <p:sp>
        <p:nvSpPr>
          <p:cNvPr id="15" name="Freeform 15"/>
          <p:cNvSpPr/>
          <p:nvPr/>
        </p:nvSpPr>
        <p:spPr>
          <a:xfrm>
            <a:off x="9763309" y="7733742"/>
            <a:ext cx="2697469" cy="805869"/>
          </a:xfrm>
          <a:custGeom>
            <a:avLst/>
            <a:gdLst/>
            <a:ahLst/>
            <a:cxnLst/>
            <a:rect l="l" t="t" r="r" b="b"/>
            <a:pathLst>
              <a:path w="2697469" h="805869">
                <a:moveTo>
                  <a:pt x="0" y="0"/>
                </a:moveTo>
                <a:lnTo>
                  <a:pt x="2697469" y="0"/>
                </a:lnTo>
                <a:lnTo>
                  <a:pt x="2697469" y="805869"/>
                </a:lnTo>
                <a:lnTo>
                  <a:pt x="0" y="805869"/>
                </a:lnTo>
                <a:lnTo>
                  <a:pt x="0" y="0"/>
                </a:lnTo>
                <a:close/>
              </a:path>
            </a:pathLst>
          </a:custGeom>
          <a:blipFill>
            <a:blip r:embed="rId10"/>
            <a:stretch>
              <a:fillRect/>
            </a:stretch>
          </a:blipFill>
        </p:spPr>
        <p:txBody>
          <a:bodyPr/>
          <a:lstStyle/>
          <a:p>
            <a:endParaRPr lang="en-US"/>
          </a:p>
        </p:txBody>
      </p:sp>
      <p:sp>
        <p:nvSpPr>
          <p:cNvPr id="16" name="Freeform 16"/>
          <p:cNvSpPr/>
          <p:nvPr/>
        </p:nvSpPr>
        <p:spPr>
          <a:xfrm>
            <a:off x="13051949" y="7733742"/>
            <a:ext cx="2281741" cy="901656"/>
          </a:xfrm>
          <a:custGeom>
            <a:avLst/>
            <a:gdLst/>
            <a:ahLst/>
            <a:cxnLst/>
            <a:rect l="l" t="t" r="r" b="b"/>
            <a:pathLst>
              <a:path w="2281741" h="901656">
                <a:moveTo>
                  <a:pt x="0" y="0"/>
                </a:moveTo>
                <a:lnTo>
                  <a:pt x="2281741" y="0"/>
                </a:lnTo>
                <a:lnTo>
                  <a:pt x="2281741" y="901656"/>
                </a:lnTo>
                <a:lnTo>
                  <a:pt x="0" y="901656"/>
                </a:lnTo>
                <a:lnTo>
                  <a:pt x="0" y="0"/>
                </a:lnTo>
                <a:close/>
              </a:path>
            </a:pathLst>
          </a:custGeom>
          <a:blipFill>
            <a:blip r:embed="rId11"/>
            <a:stretch>
              <a:fillRect/>
            </a:stretch>
          </a:blipFill>
        </p:spPr>
        <p:txBody>
          <a:bodyPr/>
          <a:lstStyle/>
          <a:p>
            <a:endParaRPr lang="en-US"/>
          </a:p>
        </p:txBody>
      </p:sp>
      <p:sp>
        <p:nvSpPr>
          <p:cNvPr id="17" name="Freeform 17"/>
          <p:cNvSpPr/>
          <p:nvPr/>
        </p:nvSpPr>
        <p:spPr>
          <a:xfrm>
            <a:off x="11057173" y="706554"/>
            <a:ext cx="5225525" cy="4436946"/>
          </a:xfrm>
          <a:custGeom>
            <a:avLst/>
            <a:gdLst/>
            <a:ahLst/>
            <a:cxnLst/>
            <a:rect l="l" t="t" r="r" b="b"/>
            <a:pathLst>
              <a:path w="5225525" h="4436946">
                <a:moveTo>
                  <a:pt x="0" y="0"/>
                </a:moveTo>
                <a:lnTo>
                  <a:pt x="5225525" y="0"/>
                </a:lnTo>
                <a:lnTo>
                  <a:pt x="5225525" y="4436946"/>
                </a:lnTo>
                <a:lnTo>
                  <a:pt x="0" y="443694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8" name="TextBox 18"/>
          <p:cNvSpPr txBox="1"/>
          <p:nvPr/>
        </p:nvSpPr>
        <p:spPr>
          <a:xfrm>
            <a:off x="12376321" y="1634816"/>
            <a:ext cx="2587228" cy="1306619"/>
          </a:xfrm>
          <a:prstGeom prst="rect">
            <a:avLst/>
          </a:prstGeom>
        </p:spPr>
        <p:txBody>
          <a:bodyPr lIns="0" tIns="0" rIns="0" bIns="0" rtlCol="0" anchor="t">
            <a:spAutoFit/>
          </a:bodyPr>
          <a:lstStyle/>
          <a:p>
            <a:pPr algn="ctr">
              <a:lnSpc>
                <a:spcPts val="10406"/>
              </a:lnSpc>
              <a:spcBef>
                <a:spcPct val="0"/>
              </a:spcBef>
            </a:pPr>
            <a:r>
              <a:rPr lang="en-US" sz="7433" b="1" i="1">
                <a:solidFill>
                  <a:srgbClr val="521221"/>
                </a:solidFill>
                <a:latin typeface="Arial Bold Italics"/>
                <a:ea typeface="Arial Bold Italics"/>
                <a:cs typeface="Arial Bold Italics"/>
                <a:sym typeface="Arial Bold Italics"/>
              </a:rPr>
              <a:t>Q &amp;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888</TotalTime>
  <Words>420</Words>
  <Application>Microsoft Office PowerPoint</Application>
  <PresentationFormat>Custom</PresentationFormat>
  <Paragraphs>34</Paragraphs>
  <Slides>8</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8</vt:i4>
      </vt:variant>
    </vt:vector>
  </HeadingPairs>
  <TitlesOfParts>
    <vt:vector size="21" baseType="lpstr">
      <vt:lpstr>Bricolage Grotesque Bold</vt:lpstr>
      <vt:lpstr>Poppins Bold Italics</vt:lpstr>
      <vt:lpstr>Arial Bold Italics</vt:lpstr>
      <vt:lpstr>ITC Franklin Gothic LT Semi-Bold</vt:lpstr>
      <vt:lpstr>Aileron Bold Italics</vt:lpstr>
      <vt:lpstr>ITC Franklin Gothic LT</vt:lpstr>
      <vt:lpstr>Calibri</vt:lpstr>
      <vt:lpstr>Aileron</vt:lpstr>
      <vt:lpstr>Arial</vt:lpstr>
      <vt:lpstr>TT Phobos</vt:lpstr>
      <vt:lpstr>Canva Sans</vt:lpstr>
      <vt:lpstr>Glacial Indifference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govsync2.pptx</dc:title>
  <dc:creator>Tidimatso malatji</dc:creator>
  <cp:lastModifiedBy>Tidimatso malatji</cp:lastModifiedBy>
  <cp:revision>1</cp:revision>
  <dcterms:created xsi:type="dcterms:W3CDTF">2006-08-16T00:00:00Z</dcterms:created>
  <dcterms:modified xsi:type="dcterms:W3CDTF">2026-03-28T06:00:09Z</dcterms:modified>
  <dc:identifier>DAHFJTuwDYI</dc:identifier>
</cp:coreProperties>
</file>